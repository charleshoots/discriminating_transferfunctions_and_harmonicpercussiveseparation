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8" r:id="rId4"/>
    <p:sldId id="270" r:id="rId5"/>
    <p:sldId id="258" r:id="rId6"/>
    <p:sldId id="263" r:id="rId7"/>
    <p:sldId id="262" r:id="rId8"/>
    <p:sldId id="266" r:id="rId9"/>
    <p:sldId id="267" r:id="rId10"/>
    <p:sldId id="27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54"/>
    <p:restoredTop sz="94615"/>
  </p:normalViewPr>
  <p:slideViewPr>
    <p:cSldViewPr snapToGrid="0">
      <p:cViewPr>
        <p:scale>
          <a:sx n="135" d="100"/>
          <a:sy n="135" d="100"/>
        </p:scale>
        <p:origin x="2152"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EB574-FDD7-717A-D0DB-D114235C7B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79B5BDC-5006-067C-0E33-9DF753953C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C1D2109-2AA1-D468-5AFC-87C20F337A3D}"/>
              </a:ext>
            </a:extLst>
          </p:cNvPr>
          <p:cNvSpPr>
            <a:spLocks noGrp="1"/>
          </p:cNvSpPr>
          <p:nvPr>
            <p:ph type="dt" sz="half" idx="10"/>
          </p:nvPr>
        </p:nvSpPr>
        <p:spPr/>
        <p:txBody>
          <a:bodyPr/>
          <a:lstStyle/>
          <a:p>
            <a:fld id="{82784C8B-6063-8D4C-8CE9-F1ACB625B88D}" type="datetimeFigureOut">
              <a:rPr lang="en-US" smtClean="0"/>
              <a:t>3/24/25</a:t>
            </a:fld>
            <a:endParaRPr lang="en-US"/>
          </a:p>
        </p:txBody>
      </p:sp>
      <p:sp>
        <p:nvSpPr>
          <p:cNvPr id="5" name="Footer Placeholder 4">
            <a:extLst>
              <a:ext uri="{FF2B5EF4-FFF2-40B4-BE49-F238E27FC236}">
                <a16:creationId xmlns:a16="http://schemas.microsoft.com/office/drawing/2014/main" id="{59E68576-79F3-3F29-CF4B-E992EDEED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B11730-479F-9001-A2AC-5E0D7B87A226}"/>
              </a:ext>
            </a:extLst>
          </p:cNvPr>
          <p:cNvSpPr>
            <a:spLocks noGrp="1"/>
          </p:cNvSpPr>
          <p:nvPr>
            <p:ph type="sldNum" sz="quarter" idx="12"/>
          </p:nvPr>
        </p:nvSpPr>
        <p:spPr/>
        <p:txBody>
          <a:bodyPr/>
          <a:lstStyle/>
          <a:p>
            <a:fld id="{892D2703-080D-A345-A438-1C571D0991B4}" type="slidenum">
              <a:rPr lang="en-US" smtClean="0"/>
              <a:t>‹#›</a:t>
            </a:fld>
            <a:endParaRPr lang="en-US"/>
          </a:p>
        </p:txBody>
      </p:sp>
    </p:spTree>
    <p:extLst>
      <p:ext uri="{BB962C8B-B14F-4D97-AF65-F5344CB8AC3E}">
        <p14:creationId xmlns:p14="http://schemas.microsoft.com/office/powerpoint/2010/main" val="2815713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FD289-7721-6D80-6A8E-C8E863791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A51868-DA9D-B6EC-69DE-33D15F3498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E64A45-09D4-AEF4-9C67-DDC2DEC1C0F0}"/>
              </a:ext>
            </a:extLst>
          </p:cNvPr>
          <p:cNvSpPr>
            <a:spLocks noGrp="1"/>
          </p:cNvSpPr>
          <p:nvPr>
            <p:ph type="dt" sz="half" idx="10"/>
          </p:nvPr>
        </p:nvSpPr>
        <p:spPr/>
        <p:txBody>
          <a:bodyPr/>
          <a:lstStyle/>
          <a:p>
            <a:fld id="{82784C8B-6063-8D4C-8CE9-F1ACB625B88D}" type="datetimeFigureOut">
              <a:rPr lang="en-US" smtClean="0"/>
              <a:t>3/24/25</a:t>
            </a:fld>
            <a:endParaRPr lang="en-US"/>
          </a:p>
        </p:txBody>
      </p:sp>
      <p:sp>
        <p:nvSpPr>
          <p:cNvPr id="5" name="Footer Placeholder 4">
            <a:extLst>
              <a:ext uri="{FF2B5EF4-FFF2-40B4-BE49-F238E27FC236}">
                <a16:creationId xmlns:a16="http://schemas.microsoft.com/office/drawing/2014/main" id="{2B1BAEE0-4AFA-A89A-B031-962D349F3D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F78D6-F76F-BD2D-9783-A14FBBB5A138}"/>
              </a:ext>
            </a:extLst>
          </p:cNvPr>
          <p:cNvSpPr>
            <a:spLocks noGrp="1"/>
          </p:cNvSpPr>
          <p:nvPr>
            <p:ph type="sldNum" sz="quarter" idx="12"/>
          </p:nvPr>
        </p:nvSpPr>
        <p:spPr/>
        <p:txBody>
          <a:bodyPr/>
          <a:lstStyle/>
          <a:p>
            <a:fld id="{892D2703-080D-A345-A438-1C571D0991B4}" type="slidenum">
              <a:rPr lang="en-US" smtClean="0"/>
              <a:t>‹#›</a:t>
            </a:fld>
            <a:endParaRPr lang="en-US"/>
          </a:p>
        </p:txBody>
      </p:sp>
    </p:spTree>
    <p:extLst>
      <p:ext uri="{BB962C8B-B14F-4D97-AF65-F5344CB8AC3E}">
        <p14:creationId xmlns:p14="http://schemas.microsoft.com/office/powerpoint/2010/main" val="2918804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A7E33-210C-0D08-5CD8-8252B696C3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3EFF60-4A9A-002B-860E-B7C3426C3C2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86BF57-C3C5-DE0B-E096-757B9BC304B0}"/>
              </a:ext>
            </a:extLst>
          </p:cNvPr>
          <p:cNvSpPr>
            <a:spLocks noGrp="1"/>
          </p:cNvSpPr>
          <p:nvPr>
            <p:ph type="dt" sz="half" idx="10"/>
          </p:nvPr>
        </p:nvSpPr>
        <p:spPr/>
        <p:txBody>
          <a:bodyPr/>
          <a:lstStyle/>
          <a:p>
            <a:fld id="{82784C8B-6063-8D4C-8CE9-F1ACB625B88D}" type="datetimeFigureOut">
              <a:rPr lang="en-US" smtClean="0"/>
              <a:t>3/24/25</a:t>
            </a:fld>
            <a:endParaRPr lang="en-US"/>
          </a:p>
        </p:txBody>
      </p:sp>
      <p:sp>
        <p:nvSpPr>
          <p:cNvPr id="5" name="Footer Placeholder 4">
            <a:extLst>
              <a:ext uri="{FF2B5EF4-FFF2-40B4-BE49-F238E27FC236}">
                <a16:creationId xmlns:a16="http://schemas.microsoft.com/office/drawing/2014/main" id="{0E7E24F7-31C1-5BB2-EDC3-CB85EA9F01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75D3DE-78E9-4B38-E658-1040AD42C412}"/>
              </a:ext>
            </a:extLst>
          </p:cNvPr>
          <p:cNvSpPr>
            <a:spLocks noGrp="1"/>
          </p:cNvSpPr>
          <p:nvPr>
            <p:ph type="sldNum" sz="quarter" idx="12"/>
          </p:nvPr>
        </p:nvSpPr>
        <p:spPr/>
        <p:txBody>
          <a:bodyPr/>
          <a:lstStyle/>
          <a:p>
            <a:fld id="{892D2703-080D-A345-A438-1C571D0991B4}" type="slidenum">
              <a:rPr lang="en-US" smtClean="0"/>
              <a:t>‹#›</a:t>
            </a:fld>
            <a:endParaRPr lang="en-US"/>
          </a:p>
        </p:txBody>
      </p:sp>
    </p:spTree>
    <p:extLst>
      <p:ext uri="{BB962C8B-B14F-4D97-AF65-F5344CB8AC3E}">
        <p14:creationId xmlns:p14="http://schemas.microsoft.com/office/powerpoint/2010/main" val="467860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0709F-9A50-8E87-D994-D6D8D21615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FEC965-CDAD-3B6B-9F69-A4E255DC85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213A1DE-3E9B-9CD5-D5A8-0C57FE571E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41331B-A6D2-5149-14A2-86B3F5D4EEEA}"/>
              </a:ext>
            </a:extLst>
          </p:cNvPr>
          <p:cNvSpPr>
            <a:spLocks noGrp="1"/>
          </p:cNvSpPr>
          <p:nvPr>
            <p:ph type="dt" sz="half" idx="10"/>
          </p:nvPr>
        </p:nvSpPr>
        <p:spPr/>
        <p:txBody>
          <a:bodyPr/>
          <a:lstStyle/>
          <a:p>
            <a:fld id="{82784C8B-6063-8D4C-8CE9-F1ACB625B88D}" type="datetimeFigureOut">
              <a:rPr lang="en-US" smtClean="0"/>
              <a:t>3/24/25</a:t>
            </a:fld>
            <a:endParaRPr lang="en-US"/>
          </a:p>
        </p:txBody>
      </p:sp>
      <p:sp>
        <p:nvSpPr>
          <p:cNvPr id="6" name="Footer Placeholder 5">
            <a:extLst>
              <a:ext uri="{FF2B5EF4-FFF2-40B4-BE49-F238E27FC236}">
                <a16:creationId xmlns:a16="http://schemas.microsoft.com/office/drawing/2014/main" id="{1470F03A-F9E8-528B-8A41-B32796AFAE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E5CF0-223E-13EF-1A26-AEC695554A67}"/>
              </a:ext>
            </a:extLst>
          </p:cNvPr>
          <p:cNvSpPr>
            <a:spLocks noGrp="1"/>
          </p:cNvSpPr>
          <p:nvPr>
            <p:ph type="sldNum" sz="quarter" idx="12"/>
          </p:nvPr>
        </p:nvSpPr>
        <p:spPr/>
        <p:txBody>
          <a:bodyPr/>
          <a:lstStyle/>
          <a:p>
            <a:fld id="{892D2703-080D-A345-A438-1C571D0991B4}" type="slidenum">
              <a:rPr lang="en-US" smtClean="0"/>
              <a:t>‹#›</a:t>
            </a:fld>
            <a:endParaRPr lang="en-US"/>
          </a:p>
        </p:txBody>
      </p:sp>
    </p:spTree>
    <p:extLst>
      <p:ext uri="{BB962C8B-B14F-4D97-AF65-F5344CB8AC3E}">
        <p14:creationId xmlns:p14="http://schemas.microsoft.com/office/powerpoint/2010/main" val="2535108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0521E-B016-E30E-1015-87A5D6FC23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1877967-FA7F-6911-315C-3B5508F722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C47B5A-3FB5-D355-6921-D30F02235A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9950BB-AEA5-A056-B98E-270BAA3BC4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3E936E-F46E-D46F-94BA-FED9064FD7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29E088-E5F9-20F6-04C5-8B0872BDF560}"/>
              </a:ext>
            </a:extLst>
          </p:cNvPr>
          <p:cNvSpPr>
            <a:spLocks noGrp="1"/>
          </p:cNvSpPr>
          <p:nvPr>
            <p:ph type="dt" sz="half" idx="10"/>
          </p:nvPr>
        </p:nvSpPr>
        <p:spPr/>
        <p:txBody>
          <a:bodyPr/>
          <a:lstStyle/>
          <a:p>
            <a:fld id="{82784C8B-6063-8D4C-8CE9-F1ACB625B88D}" type="datetimeFigureOut">
              <a:rPr lang="en-US" smtClean="0"/>
              <a:t>3/24/25</a:t>
            </a:fld>
            <a:endParaRPr lang="en-US"/>
          </a:p>
        </p:txBody>
      </p:sp>
      <p:sp>
        <p:nvSpPr>
          <p:cNvPr id="8" name="Footer Placeholder 7">
            <a:extLst>
              <a:ext uri="{FF2B5EF4-FFF2-40B4-BE49-F238E27FC236}">
                <a16:creationId xmlns:a16="http://schemas.microsoft.com/office/drawing/2014/main" id="{38236ECC-9553-CEC6-00F4-D1304A1A3B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4F02D1-5B57-3F92-67AB-74233AA9A2E6}"/>
              </a:ext>
            </a:extLst>
          </p:cNvPr>
          <p:cNvSpPr>
            <a:spLocks noGrp="1"/>
          </p:cNvSpPr>
          <p:nvPr>
            <p:ph type="sldNum" sz="quarter" idx="12"/>
          </p:nvPr>
        </p:nvSpPr>
        <p:spPr/>
        <p:txBody>
          <a:bodyPr/>
          <a:lstStyle/>
          <a:p>
            <a:fld id="{892D2703-080D-A345-A438-1C571D0991B4}" type="slidenum">
              <a:rPr lang="en-US" smtClean="0"/>
              <a:t>‹#›</a:t>
            </a:fld>
            <a:endParaRPr lang="en-US"/>
          </a:p>
        </p:txBody>
      </p:sp>
    </p:spTree>
    <p:extLst>
      <p:ext uri="{BB962C8B-B14F-4D97-AF65-F5344CB8AC3E}">
        <p14:creationId xmlns:p14="http://schemas.microsoft.com/office/powerpoint/2010/main" val="890890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04FE1-BB46-BCCE-AB01-23664A3FE8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A07328-D287-C82B-0FE3-D1C255067382}"/>
              </a:ext>
            </a:extLst>
          </p:cNvPr>
          <p:cNvSpPr>
            <a:spLocks noGrp="1"/>
          </p:cNvSpPr>
          <p:nvPr>
            <p:ph type="dt" sz="half" idx="10"/>
          </p:nvPr>
        </p:nvSpPr>
        <p:spPr/>
        <p:txBody>
          <a:bodyPr/>
          <a:lstStyle/>
          <a:p>
            <a:fld id="{82784C8B-6063-8D4C-8CE9-F1ACB625B88D}" type="datetimeFigureOut">
              <a:rPr lang="en-US" smtClean="0"/>
              <a:t>3/24/25</a:t>
            </a:fld>
            <a:endParaRPr lang="en-US"/>
          </a:p>
        </p:txBody>
      </p:sp>
      <p:sp>
        <p:nvSpPr>
          <p:cNvPr id="4" name="Footer Placeholder 3">
            <a:extLst>
              <a:ext uri="{FF2B5EF4-FFF2-40B4-BE49-F238E27FC236}">
                <a16:creationId xmlns:a16="http://schemas.microsoft.com/office/drawing/2014/main" id="{F217137B-CCA5-20E1-F9EE-0B10598DB2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376339A-5696-BF89-2D18-1906DF099776}"/>
              </a:ext>
            </a:extLst>
          </p:cNvPr>
          <p:cNvSpPr>
            <a:spLocks noGrp="1"/>
          </p:cNvSpPr>
          <p:nvPr>
            <p:ph type="sldNum" sz="quarter" idx="12"/>
          </p:nvPr>
        </p:nvSpPr>
        <p:spPr/>
        <p:txBody>
          <a:bodyPr/>
          <a:lstStyle/>
          <a:p>
            <a:fld id="{892D2703-080D-A345-A438-1C571D0991B4}" type="slidenum">
              <a:rPr lang="en-US" smtClean="0"/>
              <a:t>‹#›</a:t>
            </a:fld>
            <a:endParaRPr lang="en-US"/>
          </a:p>
        </p:txBody>
      </p:sp>
    </p:spTree>
    <p:extLst>
      <p:ext uri="{BB962C8B-B14F-4D97-AF65-F5344CB8AC3E}">
        <p14:creationId xmlns:p14="http://schemas.microsoft.com/office/powerpoint/2010/main" val="1074855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5E2FDB-053F-FDB9-A8EB-E827D3CAC936}"/>
              </a:ext>
            </a:extLst>
          </p:cNvPr>
          <p:cNvSpPr>
            <a:spLocks noGrp="1"/>
          </p:cNvSpPr>
          <p:nvPr>
            <p:ph type="dt" sz="half" idx="10"/>
          </p:nvPr>
        </p:nvSpPr>
        <p:spPr/>
        <p:txBody>
          <a:bodyPr/>
          <a:lstStyle/>
          <a:p>
            <a:fld id="{82784C8B-6063-8D4C-8CE9-F1ACB625B88D}" type="datetimeFigureOut">
              <a:rPr lang="en-US" smtClean="0"/>
              <a:t>3/24/25</a:t>
            </a:fld>
            <a:endParaRPr lang="en-US"/>
          </a:p>
        </p:txBody>
      </p:sp>
      <p:sp>
        <p:nvSpPr>
          <p:cNvPr id="3" name="Footer Placeholder 2">
            <a:extLst>
              <a:ext uri="{FF2B5EF4-FFF2-40B4-BE49-F238E27FC236}">
                <a16:creationId xmlns:a16="http://schemas.microsoft.com/office/drawing/2014/main" id="{1F94A767-F472-3872-111E-9072BAD0F0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712B1C-BA5B-E866-D442-C032A4818E8D}"/>
              </a:ext>
            </a:extLst>
          </p:cNvPr>
          <p:cNvSpPr>
            <a:spLocks noGrp="1"/>
          </p:cNvSpPr>
          <p:nvPr>
            <p:ph type="sldNum" sz="quarter" idx="12"/>
          </p:nvPr>
        </p:nvSpPr>
        <p:spPr/>
        <p:txBody>
          <a:bodyPr/>
          <a:lstStyle/>
          <a:p>
            <a:fld id="{892D2703-080D-A345-A438-1C571D0991B4}" type="slidenum">
              <a:rPr lang="en-US" smtClean="0"/>
              <a:t>‹#›</a:t>
            </a:fld>
            <a:endParaRPr lang="en-US"/>
          </a:p>
        </p:txBody>
      </p:sp>
    </p:spTree>
    <p:extLst>
      <p:ext uri="{BB962C8B-B14F-4D97-AF65-F5344CB8AC3E}">
        <p14:creationId xmlns:p14="http://schemas.microsoft.com/office/powerpoint/2010/main" val="4283836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53D70-1455-C07B-3192-3278CB13F2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489C065-427F-2E19-6CCF-1C8B6FE873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7221CB-17F3-8868-9157-9D9B8B698F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65EAF7-622F-83A8-D2C9-6D5D05B3AC7D}"/>
              </a:ext>
            </a:extLst>
          </p:cNvPr>
          <p:cNvSpPr>
            <a:spLocks noGrp="1"/>
          </p:cNvSpPr>
          <p:nvPr>
            <p:ph type="dt" sz="half" idx="10"/>
          </p:nvPr>
        </p:nvSpPr>
        <p:spPr/>
        <p:txBody>
          <a:bodyPr/>
          <a:lstStyle/>
          <a:p>
            <a:fld id="{82784C8B-6063-8D4C-8CE9-F1ACB625B88D}" type="datetimeFigureOut">
              <a:rPr lang="en-US" smtClean="0"/>
              <a:t>3/24/25</a:t>
            </a:fld>
            <a:endParaRPr lang="en-US"/>
          </a:p>
        </p:txBody>
      </p:sp>
      <p:sp>
        <p:nvSpPr>
          <p:cNvPr id="6" name="Footer Placeholder 5">
            <a:extLst>
              <a:ext uri="{FF2B5EF4-FFF2-40B4-BE49-F238E27FC236}">
                <a16:creationId xmlns:a16="http://schemas.microsoft.com/office/drawing/2014/main" id="{FC68FDFE-BA74-43D8-A02B-AA2FAA4744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578CE6-A1D9-E1EF-8AB5-9E073FDF9DFE}"/>
              </a:ext>
            </a:extLst>
          </p:cNvPr>
          <p:cNvSpPr>
            <a:spLocks noGrp="1"/>
          </p:cNvSpPr>
          <p:nvPr>
            <p:ph type="sldNum" sz="quarter" idx="12"/>
          </p:nvPr>
        </p:nvSpPr>
        <p:spPr/>
        <p:txBody>
          <a:bodyPr/>
          <a:lstStyle/>
          <a:p>
            <a:fld id="{892D2703-080D-A345-A438-1C571D0991B4}" type="slidenum">
              <a:rPr lang="en-US" smtClean="0"/>
              <a:t>‹#›</a:t>
            </a:fld>
            <a:endParaRPr lang="en-US"/>
          </a:p>
        </p:txBody>
      </p:sp>
    </p:spTree>
    <p:extLst>
      <p:ext uri="{BB962C8B-B14F-4D97-AF65-F5344CB8AC3E}">
        <p14:creationId xmlns:p14="http://schemas.microsoft.com/office/powerpoint/2010/main" val="1435742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E1109-1DCE-E3B6-CE22-E92F2B5674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00CA06-1A08-25A9-07C9-4749C53EB7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BEA52C-756F-B45F-71BB-2183A5C774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CEA242-3A23-ACAE-752E-962D6E600CF5}"/>
              </a:ext>
            </a:extLst>
          </p:cNvPr>
          <p:cNvSpPr>
            <a:spLocks noGrp="1"/>
          </p:cNvSpPr>
          <p:nvPr>
            <p:ph type="dt" sz="half" idx="10"/>
          </p:nvPr>
        </p:nvSpPr>
        <p:spPr/>
        <p:txBody>
          <a:bodyPr/>
          <a:lstStyle/>
          <a:p>
            <a:fld id="{82784C8B-6063-8D4C-8CE9-F1ACB625B88D}" type="datetimeFigureOut">
              <a:rPr lang="en-US" smtClean="0"/>
              <a:t>3/24/25</a:t>
            </a:fld>
            <a:endParaRPr lang="en-US"/>
          </a:p>
        </p:txBody>
      </p:sp>
      <p:sp>
        <p:nvSpPr>
          <p:cNvPr id="6" name="Footer Placeholder 5">
            <a:extLst>
              <a:ext uri="{FF2B5EF4-FFF2-40B4-BE49-F238E27FC236}">
                <a16:creationId xmlns:a16="http://schemas.microsoft.com/office/drawing/2014/main" id="{B39FD0FB-0407-B68E-73D4-62075A5F08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16193D-5072-B7ED-1FC2-50BE4CE6B9D8}"/>
              </a:ext>
            </a:extLst>
          </p:cNvPr>
          <p:cNvSpPr>
            <a:spLocks noGrp="1"/>
          </p:cNvSpPr>
          <p:nvPr>
            <p:ph type="sldNum" sz="quarter" idx="12"/>
          </p:nvPr>
        </p:nvSpPr>
        <p:spPr/>
        <p:txBody>
          <a:bodyPr/>
          <a:lstStyle/>
          <a:p>
            <a:fld id="{892D2703-080D-A345-A438-1C571D0991B4}" type="slidenum">
              <a:rPr lang="en-US" smtClean="0"/>
              <a:t>‹#›</a:t>
            </a:fld>
            <a:endParaRPr lang="en-US"/>
          </a:p>
        </p:txBody>
      </p:sp>
    </p:spTree>
    <p:extLst>
      <p:ext uri="{BB962C8B-B14F-4D97-AF65-F5344CB8AC3E}">
        <p14:creationId xmlns:p14="http://schemas.microsoft.com/office/powerpoint/2010/main" val="217758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D3D6C-F139-F404-1B49-3EC5E8B567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3BAD70E-A4EE-F57C-BAA3-2FC30ACE20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D1736C-BA30-618A-5D1A-CFD1FD4F50C8}"/>
              </a:ext>
            </a:extLst>
          </p:cNvPr>
          <p:cNvSpPr>
            <a:spLocks noGrp="1"/>
          </p:cNvSpPr>
          <p:nvPr>
            <p:ph type="dt" sz="half" idx="10"/>
          </p:nvPr>
        </p:nvSpPr>
        <p:spPr/>
        <p:txBody>
          <a:bodyPr/>
          <a:lstStyle/>
          <a:p>
            <a:fld id="{82784C8B-6063-8D4C-8CE9-F1ACB625B88D}" type="datetimeFigureOut">
              <a:rPr lang="en-US" smtClean="0"/>
              <a:t>3/24/25</a:t>
            </a:fld>
            <a:endParaRPr lang="en-US"/>
          </a:p>
        </p:txBody>
      </p:sp>
      <p:sp>
        <p:nvSpPr>
          <p:cNvPr id="5" name="Footer Placeholder 4">
            <a:extLst>
              <a:ext uri="{FF2B5EF4-FFF2-40B4-BE49-F238E27FC236}">
                <a16:creationId xmlns:a16="http://schemas.microsoft.com/office/drawing/2014/main" id="{0FCDD9E6-8024-32F3-70C5-F798DBD1CB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493A3D-4D2D-EF6C-7B2E-2D918433E277}"/>
              </a:ext>
            </a:extLst>
          </p:cNvPr>
          <p:cNvSpPr>
            <a:spLocks noGrp="1"/>
          </p:cNvSpPr>
          <p:nvPr>
            <p:ph type="sldNum" sz="quarter" idx="12"/>
          </p:nvPr>
        </p:nvSpPr>
        <p:spPr/>
        <p:txBody>
          <a:bodyPr/>
          <a:lstStyle/>
          <a:p>
            <a:fld id="{892D2703-080D-A345-A438-1C571D0991B4}" type="slidenum">
              <a:rPr lang="en-US" smtClean="0"/>
              <a:t>‹#›</a:t>
            </a:fld>
            <a:endParaRPr lang="en-US"/>
          </a:p>
        </p:txBody>
      </p:sp>
    </p:spTree>
    <p:extLst>
      <p:ext uri="{BB962C8B-B14F-4D97-AF65-F5344CB8AC3E}">
        <p14:creationId xmlns:p14="http://schemas.microsoft.com/office/powerpoint/2010/main" val="2103023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35E8F9-4F93-1A52-CE4E-63BBDB81FB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80268CB-F6CB-1032-914C-1B93D872A3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20DE9E-E11D-EE53-1ED5-6DE8743F3F97}"/>
              </a:ext>
            </a:extLst>
          </p:cNvPr>
          <p:cNvSpPr>
            <a:spLocks noGrp="1"/>
          </p:cNvSpPr>
          <p:nvPr>
            <p:ph type="dt" sz="half" idx="10"/>
          </p:nvPr>
        </p:nvSpPr>
        <p:spPr/>
        <p:txBody>
          <a:bodyPr/>
          <a:lstStyle/>
          <a:p>
            <a:fld id="{82784C8B-6063-8D4C-8CE9-F1ACB625B88D}" type="datetimeFigureOut">
              <a:rPr lang="en-US" smtClean="0"/>
              <a:t>3/24/25</a:t>
            </a:fld>
            <a:endParaRPr lang="en-US"/>
          </a:p>
        </p:txBody>
      </p:sp>
      <p:sp>
        <p:nvSpPr>
          <p:cNvPr id="5" name="Footer Placeholder 4">
            <a:extLst>
              <a:ext uri="{FF2B5EF4-FFF2-40B4-BE49-F238E27FC236}">
                <a16:creationId xmlns:a16="http://schemas.microsoft.com/office/drawing/2014/main" id="{D827B3F3-6706-0A71-715E-E71E3CC195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7A5CBD-F2D9-FEE1-AE96-E4C310EB7F9E}"/>
              </a:ext>
            </a:extLst>
          </p:cNvPr>
          <p:cNvSpPr>
            <a:spLocks noGrp="1"/>
          </p:cNvSpPr>
          <p:nvPr>
            <p:ph type="sldNum" sz="quarter" idx="12"/>
          </p:nvPr>
        </p:nvSpPr>
        <p:spPr/>
        <p:txBody>
          <a:bodyPr/>
          <a:lstStyle/>
          <a:p>
            <a:fld id="{892D2703-080D-A345-A438-1C571D0991B4}" type="slidenum">
              <a:rPr lang="en-US" smtClean="0"/>
              <a:t>‹#›</a:t>
            </a:fld>
            <a:endParaRPr lang="en-US"/>
          </a:p>
        </p:txBody>
      </p:sp>
    </p:spTree>
    <p:extLst>
      <p:ext uri="{BB962C8B-B14F-4D97-AF65-F5344CB8AC3E}">
        <p14:creationId xmlns:p14="http://schemas.microsoft.com/office/powerpoint/2010/main" val="1252984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FE71FF-D0D4-0D97-8C5B-DA64F83E2D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45ED3E-AD14-40D9-C62E-C12237398E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EB89F6-86C3-F152-63A6-9697DE544C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784C8B-6063-8D4C-8CE9-F1ACB625B88D}" type="datetimeFigureOut">
              <a:rPr lang="en-US" smtClean="0"/>
              <a:t>3/24/25</a:t>
            </a:fld>
            <a:endParaRPr lang="en-US"/>
          </a:p>
        </p:txBody>
      </p:sp>
      <p:sp>
        <p:nvSpPr>
          <p:cNvPr id="5" name="Footer Placeholder 4">
            <a:extLst>
              <a:ext uri="{FF2B5EF4-FFF2-40B4-BE49-F238E27FC236}">
                <a16:creationId xmlns:a16="http://schemas.microsoft.com/office/drawing/2014/main" id="{95A5C7F1-AAF7-AD23-E89C-C098491DA2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26EE0D2-E427-DDE0-A198-19A8E72051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92D2703-080D-A345-A438-1C571D0991B4}" type="slidenum">
              <a:rPr lang="en-US" smtClean="0"/>
              <a:t>‹#›</a:t>
            </a:fld>
            <a:endParaRPr lang="en-US"/>
          </a:p>
        </p:txBody>
      </p:sp>
    </p:spTree>
    <p:extLst>
      <p:ext uri="{BB962C8B-B14F-4D97-AF65-F5344CB8AC3E}">
        <p14:creationId xmlns:p14="http://schemas.microsoft.com/office/powerpoint/2010/main" val="33861647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4B982E8-31FF-EE2D-E31E-4391291972D2}"/>
              </a:ext>
            </a:extLst>
          </p:cNvPr>
          <p:cNvSpPr txBox="1"/>
          <p:nvPr/>
        </p:nvSpPr>
        <p:spPr>
          <a:xfrm>
            <a:off x="0" y="297457"/>
            <a:ext cx="10141528" cy="1200329"/>
          </a:xfrm>
          <a:prstGeom prst="rect">
            <a:avLst/>
          </a:prstGeom>
          <a:noFill/>
        </p:spPr>
        <p:txBody>
          <a:bodyPr wrap="square" rtlCol="0">
            <a:spAutoFit/>
          </a:bodyPr>
          <a:lstStyle/>
          <a:p>
            <a:r>
              <a:rPr lang="en-US" b="1" u="sng" dirty="0"/>
              <a:t>Geoid</a:t>
            </a:r>
            <a:r>
              <a:rPr lang="en-US" dirty="0"/>
              <a:t>: A gravitational equipotential surface that coincides with an undisturbed </a:t>
            </a:r>
            <a:r>
              <a:rPr lang="en-US" b="1" u="sng" dirty="0"/>
              <a:t>sea-level</a:t>
            </a:r>
            <a:r>
              <a:rPr lang="en-US" dirty="0"/>
              <a:t>.</a:t>
            </a:r>
          </a:p>
          <a:p>
            <a:r>
              <a:rPr lang="en-US" b="1" dirty="0"/>
              <a:t>		-Physically real but complex and irregular.</a:t>
            </a:r>
          </a:p>
          <a:p>
            <a:r>
              <a:rPr lang="en-US" b="1" u="sng" dirty="0"/>
              <a:t>Ellipsoid</a:t>
            </a:r>
            <a:r>
              <a:rPr lang="en-US" dirty="0"/>
              <a:t>: A hypothetical reference height above an idealized oblate spheroidal Earth.</a:t>
            </a:r>
          </a:p>
          <a:p>
            <a:r>
              <a:rPr lang="en-US" b="1" dirty="0"/>
              <a:t>		-Not physically real but simple and convenient to use in calculations.</a:t>
            </a:r>
          </a:p>
        </p:txBody>
      </p:sp>
      <p:sp>
        <p:nvSpPr>
          <p:cNvPr id="7" name="TextBox 6">
            <a:extLst>
              <a:ext uri="{FF2B5EF4-FFF2-40B4-BE49-F238E27FC236}">
                <a16:creationId xmlns:a16="http://schemas.microsoft.com/office/drawing/2014/main" id="{69911432-0F74-227B-B60F-7BB8E5CB85B6}"/>
              </a:ext>
            </a:extLst>
          </p:cNvPr>
          <p:cNvSpPr txBox="1"/>
          <p:nvPr/>
        </p:nvSpPr>
        <p:spPr>
          <a:xfrm>
            <a:off x="2935870" y="7494940"/>
            <a:ext cx="7038109" cy="646331"/>
          </a:xfrm>
          <a:prstGeom prst="rect">
            <a:avLst/>
          </a:prstGeom>
          <a:solidFill>
            <a:schemeClr val="bg1"/>
          </a:solidFill>
        </p:spPr>
        <p:txBody>
          <a:bodyPr wrap="square" rtlCol="0">
            <a:spAutoFit/>
          </a:bodyPr>
          <a:lstStyle/>
          <a:p>
            <a:r>
              <a:rPr lang="en-US" dirty="0"/>
              <a:t>The geoid is physically </a:t>
            </a:r>
            <a:r>
              <a:rPr lang="en-US" b="1" dirty="0"/>
              <a:t>real but complex</a:t>
            </a:r>
            <a:r>
              <a:rPr lang="en-US" dirty="0"/>
              <a:t>; the ellipsoid is not real</a:t>
            </a:r>
            <a:r>
              <a:rPr lang="en-US" b="1" dirty="0"/>
              <a:t> but simple and convenient to use in calculations</a:t>
            </a:r>
            <a:r>
              <a:rPr lang="en-US" dirty="0"/>
              <a:t>.</a:t>
            </a:r>
          </a:p>
        </p:txBody>
      </p:sp>
      <p:sp>
        <p:nvSpPr>
          <p:cNvPr id="8" name="TextBox 7">
            <a:extLst>
              <a:ext uri="{FF2B5EF4-FFF2-40B4-BE49-F238E27FC236}">
                <a16:creationId xmlns:a16="http://schemas.microsoft.com/office/drawing/2014/main" id="{A8117F6B-D4AD-3F1A-8992-B356F27055D8}"/>
              </a:ext>
            </a:extLst>
          </p:cNvPr>
          <p:cNvSpPr txBox="1"/>
          <p:nvPr/>
        </p:nvSpPr>
        <p:spPr>
          <a:xfrm>
            <a:off x="9145" y="1994265"/>
            <a:ext cx="4398263" cy="3200876"/>
          </a:xfrm>
          <a:prstGeom prst="rect">
            <a:avLst/>
          </a:prstGeom>
          <a:noFill/>
          <a:ln w="31750">
            <a:solidFill>
              <a:schemeClr val="tx1"/>
            </a:solidFill>
          </a:ln>
        </p:spPr>
        <p:txBody>
          <a:bodyPr wrap="square" rtlCol="0">
            <a:spAutoFit/>
          </a:bodyPr>
          <a:lstStyle/>
          <a:p>
            <a:r>
              <a:rPr lang="en-US" sz="2000" b="1" dirty="0"/>
              <a:t>U  </a:t>
            </a:r>
            <a:r>
              <a:rPr lang="en-US" sz="2000" dirty="0"/>
              <a:t>= Potential above the </a:t>
            </a:r>
            <a:r>
              <a:rPr lang="en-US" sz="2000" b="1" u="sng" dirty="0"/>
              <a:t>ellipsoid</a:t>
            </a:r>
            <a:r>
              <a:rPr lang="en-US" sz="2000" dirty="0"/>
              <a:t>.</a:t>
            </a:r>
          </a:p>
          <a:p>
            <a:r>
              <a:rPr lang="en-US" sz="2000" b="1" dirty="0"/>
              <a:t>ΔU </a:t>
            </a:r>
            <a:r>
              <a:rPr lang="en-US" sz="2000" dirty="0"/>
              <a:t>= Normal potential gravity = 𝜸</a:t>
            </a:r>
          </a:p>
          <a:p>
            <a:endParaRPr lang="en-US" sz="1400" b="1" i="1" dirty="0"/>
          </a:p>
          <a:p>
            <a:r>
              <a:rPr lang="en-US" sz="1400" i="1" dirty="0"/>
              <a:t>“normal  gravity“ is a reference gravity for a perfect oblate spheroid at a given latitude.</a:t>
            </a:r>
          </a:p>
          <a:p>
            <a:endParaRPr lang="en-US" sz="1600" b="1" dirty="0"/>
          </a:p>
          <a:p>
            <a:r>
              <a:rPr lang="en-US" sz="2000" b="1" dirty="0"/>
              <a:t>W</a:t>
            </a:r>
            <a:r>
              <a:rPr lang="en-US" sz="2000" dirty="0"/>
              <a:t> = Potential above the </a:t>
            </a:r>
            <a:r>
              <a:rPr lang="en-US" sz="2000" b="1" u="sng" dirty="0"/>
              <a:t>geoid</a:t>
            </a:r>
            <a:r>
              <a:rPr lang="en-US" sz="2000" dirty="0"/>
              <a:t>.</a:t>
            </a:r>
            <a:endParaRPr lang="en-US" sz="2000" baseline="-25000" dirty="0"/>
          </a:p>
          <a:p>
            <a:r>
              <a:rPr lang="en-US" sz="2000" b="1" dirty="0"/>
              <a:t>∇W </a:t>
            </a:r>
            <a:r>
              <a:rPr lang="en-US" sz="2000" dirty="0"/>
              <a:t>= Geopotential gravity</a:t>
            </a:r>
          </a:p>
          <a:p>
            <a:endParaRPr lang="en-US" sz="2000" dirty="0"/>
          </a:p>
          <a:p>
            <a:pPr lvl="1"/>
            <a:r>
              <a:rPr lang="en-US" sz="1600" i="1" dirty="0"/>
              <a:t>Corrected for only the basics e.g. tides, drift, &amp; instrument response.</a:t>
            </a:r>
          </a:p>
          <a:p>
            <a:pPr lvl="1"/>
            <a:endParaRPr lang="en-US" sz="1200" i="1" dirty="0"/>
          </a:p>
        </p:txBody>
      </p:sp>
      <p:sp>
        <p:nvSpPr>
          <p:cNvPr id="9" name="TextBox 8">
            <a:extLst>
              <a:ext uri="{FF2B5EF4-FFF2-40B4-BE49-F238E27FC236}">
                <a16:creationId xmlns:a16="http://schemas.microsoft.com/office/drawing/2014/main" id="{76FEED74-99F2-8CAF-70CB-352A8FC6403E}"/>
              </a:ext>
            </a:extLst>
          </p:cNvPr>
          <p:cNvSpPr txBox="1"/>
          <p:nvPr/>
        </p:nvSpPr>
        <p:spPr>
          <a:xfrm>
            <a:off x="7210269" y="-1955481"/>
            <a:ext cx="1210844" cy="523220"/>
          </a:xfrm>
          <a:prstGeom prst="rect">
            <a:avLst/>
          </a:prstGeom>
          <a:solidFill>
            <a:schemeClr val="bg1"/>
          </a:solidFill>
        </p:spPr>
        <p:txBody>
          <a:bodyPr wrap="none" rtlCol="0">
            <a:spAutoFit/>
          </a:bodyPr>
          <a:lstStyle/>
          <a:p>
            <a:r>
              <a:rPr lang="en-US" sz="2800" b="1" dirty="0"/>
              <a:t>ZETA </a:t>
            </a:r>
            <a:r>
              <a:rPr lang="el-GR" sz="2800" b="1" dirty="0"/>
              <a:t>ζ</a:t>
            </a:r>
            <a:endParaRPr lang="en-US" sz="2800" b="1" dirty="0"/>
          </a:p>
        </p:txBody>
      </p:sp>
      <p:sp>
        <p:nvSpPr>
          <p:cNvPr id="11" name="Rectangle 10">
            <a:extLst>
              <a:ext uri="{FF2B5EF4-FFF2-40B4-BE49-F238E27FC236}">
                <a16:creationId xmlns:a16="http://schemas.microsoft.com/office/drawing/2014/main" id="{DC8F1452-1BF5-1D47-26DB-1E866D8F1088}"/>
              </a:ext>
            </a:extLst>
          </p:cNvPr>
          <p:cNvSpPr/>
          <p:nvPr/>
        </p:nvSpPr>
        <p:spPr>
          <a:xfrm>
            <a:off x="0" y="0"/>
            <a:ext cx="12192000" cy="2203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1 | Potential Surfaces</a:t>
            </a:r>
          </a:p>
        </p:txBody>
      </p:sp>
      <p:pic>
        <p:nvPicPr>
          <p:cNvPr id="15" name="Picture 14" descr="A diagram of a graph&#10;&#10;AI-generated content may be incorrect.">
            <a:extLst>
              <a:ext uri="{FF2B5EF4-FFF2-40B4-BE49-F238E27FC236}">
                <a16:creationId xmlns:a16="http://schemas.microsoft.com/office/drawing/2014/main" id="{B1452452-AF79-CBCB-15A7-92B67D14B815}"/>
              </a:ext>
            </a:extLst>
          </p:cNvPr>
          <p:cNvPicPr>
            <a:picLocks noChangeAspect="1"/>
          </p:cNvPicPr>
          <p:nvPr/>
        </p:nvPicPr>
        <p:blipFill>
          <a:blip r:embed="rId2"/>
          <a:stretch>
            <a:fillRect/>
          </a:stretch>
        </p:blipFill>
        <p:spPr>
          <a:xfrm>
            <a:off x="4489704" y="2109767"/>
            <a:ext cx="7626096" cy="3399936"/>
          </a:xfrm>
          <a:prstGeom prst="rect">
            <a:avLst/>
          </a:prstGeom>
        </p:spPr>
      </p:pic>
      <p:sp>
        <p:nvSpPr>
          <p:cNvPr id="17" name="TextBox 16">
            <a:extLst>
              <a:ext uri="{FF2B5EF4-FFF2-40B4-BE49-F238E27FC236}">
                <a16:creationId xmlns:a16="http://schemas.microsoft.com/office/drawing/2014/main" id="{3C95A149-F4EA-17F5-7B20-06559BC33019}"/>
              </a:ext>
            </a:extLst>
          </p:cNvPr>
          <p:cNvSpPr txBox="1"/>
          <p:nvPr/>
        </p:nvSpPr>
        <p:spPr>
          <a:xfrm>
            <a:off x="9144" y="6427113"/>
            <a:ext cx="12252219" cy="430887"/>
          </a:xfrm>
          <a:prstGeom prst="rect">
            <a:avLst/>
          </a:prstGeom>
          <a:noFill/>
        </p:spPr>
        <p:txBody>
          <a:bodyPr wrap="square">
            <a:spAutoFit/>
          </a:bodyPr>
          <a:lstStyle/>
          <a:p>
            <a:pPr algn="r"/>
            <a:r>
              <a:rPr lang="en-US" sz="1100" b="1" dirty="0">
                <a:effectLst/>
              </a:rPr>
              <a:t>Barthelmes, Franz</a:t>
            </a:r>
            <a:r>
              <a:rPr lang="en-US" sz="1100" dirty="0">
                <a:effectLst/>
              </a:rPr>
              <a:t>. “</a:t>
            </a:r>
            <a:r>
              <a:rPr lang="en-US" sz="1100" i="1" dirty="0">
                <a:effectLst/>
              </a:rPr>
              <a:t>Definition of Functionals of the Geopotential and Their Calculation from Spherical Harmonic Models: Theory and Formulas Used by the Calculation Service of the International Centre for Global Earth Models (ICGEM)</a:t>
            </a:r>
            <a:r>
              <a:rPr lang="en-US" sz="1100" dirty="0">
                <a:effectLst/>
              </a:rPr>
              <a:t>; Http://</a:t>
            </a:r>
            <a:r>
              <a:rPr lang="en-US" sz="1100" dirty="0" err="1">
                <a:effectLst/>
              </a:rPr>
              <a:t>Icgem.Gfz-Potsdam.de</a:t>
            </a:r>
            <a:r>
              <a:rPr lang="en-US" sz="1100" dirty="0">
                <a:effectLst/>
              </a:rPr>
              <a:t>/ICGEM/ ; Revised Edition.” </a:t>
            </a:r>
            <a:r>
              <a:rPr lang="en-US" sz="1100" i="1" dirty="0">
                <a:effectLst/>
              </a:rPr>
              <a:t>Scientific Technical Report; 09/02; ISSN 1610-0956</a:t>
            </a:r>
            <a:r>
              <a:rPr lang="en-US" sz="1100" dirty="0">
                <a:effectLst/>
              </a:rPr>
              <a:t>, 2013.</a:t>
            </a:r>
          </a:p>
        </p:txBody>
      </p:sp>
    </p:spTree>
    <p:extLst>
      <p:ext uri="{BB962C8B-B14F-4D97-AF65-F5344CB8AC3E}">
        <p14:creationId xmlns:p14="http://schemas.microsoft.com/office/powerpoint/2010/main" val="1116950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diagram of a graph&#10;&#10;AI-generated content may be incorrect.">
            <a:extLst>
              <a:ext uri="{FF2B5EF4-FFF2-40B4-BE49-F238E27FC236}">
                <a16:creationId xmlns:a16="http://schemas.microsoft.com/office/drawing/2014/main" id="{DC31541D-05BF-E5E7-F54C-565C3ECABA0D}"/>
              </a:ext>
            </a:extLst>
          </p:cNvPr>
          <p:cNvPicPr>
            <a:picLocks noChangeAspect="1"/>
          </p:cNvPicPr>
          <p:nvPr/>
        </p:nvPicPr>
        <p:blipFill>
          <a:blip r:embed="rId2"/>
          <a:stretch>
            <a:fillRect/>
          </a:stretch>
        </p:blipFill>
        <p:spPr>
          <a:xfrm>
            <a:off x="6070476" y="2935224"/>
            <a:ext cx="6121523" cy="3456432"/>
          </a:xfrm>
          <a:prstGeom prst="rect">
            <a:avLst/>
          </a:prstGeom>
        </p:spPr>
      </p:pic>
      <p:sp>
        <p:nvSpPr>
          <p:cNvPr id="4" name="Rectangle 3">
            <a:extLst>
              <a:ext uri="{FF2B5EF4-FFF2-40B4-BE49-F238E27FC236}">
                <a16:creationId xmlns:a16="http://schemas.microsoft.com/office/drawing/2014/main" id="{783B5092-972E-35FA-BE9D-D3833B75F038}"/>
              </a:ext>
            </a:extLst>
          </p:cNvPr>
          <p:cNvSpPr/>
          <p:nvPr/>
        </p:nvSpPr>
        <p:spPr>
          <a:xfrm>
            <a:off x="0" y="0"/>
            <a:ext cx="12192000" cy="2203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2 | Anomalies</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9658E049-A0E0-7C38-FC61-5003B4AD46E7}"/>
                  </a:ext>
                </a:extLst>
              </p:cNvPr>
              <p:cNvSpPr txBox="1"/>
              <p:nvPr/>
            </p:nvSpPr>
            <p:spPr>
              <a:xfrm>
                <a:off x="0" y="220337"/>
                <a:ext cx="12006072" cy="2859181"/>
              </a:xfrm>
              <a:prstGeom prst="rect">
                <a:avLst/>
              </a:prstGeom>
              <a:noFill/>
            </p:spPr>
            <p:txBody>
              <a:bodyPr wrap="square" rtlCol="0">
                <a:spAutoFit/>
              </a:bodyPr>
              <a:lstStyle/>
              <a:p>
                <a:r>
                  <a:rPr lang="en-US" b="1" dirty="0"/>
                  <a:t>|</a:t>
                </a:r>
                <a:r>
                  <a:rPr lang="en-US" sz="1800" b="1" dirty="0"/>
                  <a:t>∇W| </a:t>
                </a:r>
                <a:r>
                  <a:rPr lang="en-US" sz="1800" dirty="0"/>
                  <a:t>has also been corrected for:</a:t>
                </a:r>
                <a:endParaRPr lang="en-US" dirty="0"/>
              </a:p>
              <a:p>
                <a:pPr lvl="1"/>
                <a:r>
                  <a:rPr lang="en-US" dirty="0"/>
                  <a:t>✅ [1] </a:t>
                </a:r>
                <a:r>
                  <a:rPr lang="en-US" b="1" dirty="0"/>
                  <a:t>Eötvös Correction</a:t>
                </a:r>
                <a:r>
                  <a:rPr lang="en-US" dirty="0"/>
                  <a:t>	|	</a:t>
                </a:r>
                <a14:m>
                  <m:oMath xmlns:m="http://schemas.openxmlformats.org/officeDocument/2006/math">
                    <m:sSub>
                      <m:sSubPr>
                        <m:ctrlPr>
                          <a:rPr lang="en-US" i="1" smtClean="0">
                            <a:latin typeface="Cambria Math" panose="02040503050406030204" pitchFamily="18" charset="0"/>
                          </a:rPr>
                        </m:ctrlPr>
                      </m:sSubPr>
                      <m:e>
                        <m:r>
                          <m:rPr>
                            <m:nor/>
                          </m:rPr>
                          <a:rPr lang="en-US" smtClean="0"/>
                          <m:t>Δg</m:t>
                        </m:r>
                      </m:e>
                      <m:sub>
                        <m:r>
                          <a:rPr lang="en-US" b="0" i="1" smtClean="0">
                            <a:latin typeface="Cambria Math" panose="02040503050406030204" pitchFamily="18" charset="0"/>
                          </a:rPr>
                          <m:t>𝐸</m:t>
                        </m:r>
                      </m:sub>
                    </m:sSub>
                    <m:r>
                      <m:rPr>
                        <m:nor/>
                      </m:rPr>
                      <a:rPr lang="en-US" smtClean="0"/>
                      <m:t>​=2</m:t>
                    </m:r>
                    <m:r>
                      <m:rPr>
                        <m:nor/>
                      </m:rPr>
                      <a:rPr lang="el-GR" smtClean="0"/>
                      <m:t>ω</m:t>
                    </m:r>
                    <m:sSub>
                      <m:sSubPr>
                        <m:ctrlPr>
                          <a:rPr lang="el-GR"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𝑒</m:t>
                        </m:r>
                      </m:sub>
                    </m:sSub>
                    <m:r>
                      <m:rPr>
                        <m:nor/>
                      </m:rPr>
                      <a:rPr lang="en-US" smtClean="0"/>
                      <m:t>​</m:t>
                    </m:r>
                    <m:r>
                      <m:rPr>
                        <m:nor/>
                      </m:rPr>
                      <a:rPr lang="en-US" b="0" i="0" smtClean="0"/>
                      <m:t> </m:t>
                    </m:r>
                    <m:r>
                      <m:rPr>
                        <m:nor/>
                      </m:rPr>
                      <a:rPr lang="en-US" b="0" i="0" smtClean="0"/>
                      <m:t>S</m:t>
                    </m:r>
                    <m:r>
                      <m:rPr>
                        <m:nor/>
                      </m:rPr>
                      <a:rPr lang="en-US" b="0" i="0" smtClean="0"/>
                      <m:t>in</m:t>
                    </m:r>
                    <m:r>
                      <m:rPr>
                        <m:nor/>
                      </m:rPr>
                      <a:rPr lang="en-US" b="0" i="0" smtClean="0"/>
                      <m:t> </m:t>
                    </m:r>
                    <m:r>
                      <m:rPr>
                        <m:nor/>
                      </m:rPr>
                      <a:rPr lang="el-GR" smtClean="0"/>
                      <m:t>ϕ</m:t>
                    </m:r>
                    <m:r>
                      <m:rPr>
                        <m:nor/>
                      </m:rPr>
                      <a:rPr lang="en-US" b="0" i="0" smtClean="0"/>
                      <m:t> </m:t>
                    </m:r>
                    <m:r>
                      <m:rPr>
                        <m:nor/>
                      </m:rPr>
                      <a:rPr lang="el-GR" smtClean="0"/>
                      <m:t>+</m:t>
                    </m:r>
                    <m:r>
                      <m:rPr>
                        <m:nor/>
                      </m:rPr>
                      <a:rPr lang="en-US" b="0" i="0" smtClean="0"/>
                      <m:t> </m:t>
                    </m:r>
                    <m:f>
                      <m:fPr>
                        <m:ctrlPr>
                          <a:rPr lang="el-GR" i="1" smtClean="0">
                            <a:latin typeface="Cambria Math" panose="02040503050406030204" pitchFamily="18" charset="0"/>
                          </a:rPr>
                        </m:ctrlPr>
                      </m:fPr>
                      <m:num>
                        <m:sSup>
                          <m:sSupPr>
                            <m:ctrlPr>
                              <a:rPr lang="el-GR" i="1" smtClean="0">
                                <a:latin typeface="Cambria Math" panose="02040503050406030204" pitchFamily="18" charset="0"/>
                              </a:rPr>
                            </m:ctrlPr>
                          </m:sSupPr>
                          <m:e>
                            <m:r>
                              <a:rPr lang="en-US" b="0" i="1" smtClean="0">
                                <a:latin typeface="Cambria Math" panose="02040503050406030204" pitchFamily="18" charset="0"/>
                              </a:rPr>
                              <m:t>𝑣</m:t>
                            </m:r>
                          </m:e>
                          <m:sup>
                            <m:r>
                              <a:rPr lang="en-US" b="0" i="1" smtClean="0">
                                <a:latin typeface="Cambria Math" panose="02040503050406030204" pitchFamily="18" charset="0"/>
                              </a:rPr>
                              <m:t>2</m:t>
                            </m:r>
                          </m:sup>
                        </m:sSup>
                      </m:num>
                      <m:den>
                        <m:r>
                          <a:rPr lang="en-US" b="0" i="1" smtClean="0">
                            <a:latin typeface="Cambria Math" panose="02040503050406030204" pitchFamily="18" charset="0"/>
                          </a:rPr>
                          <m:t>𝑅</m:t>
                        </m:r>
                      </m:den>
                    </m:f>
                    <m:r>
                      <m:rPr>
                        <m:nor/>
                      </m:rPr>
                      <a:rPr lang="en-US" smtClean="0"/>
                      <m:t>​</m:t>
                    </m:r>
                  </m:oMath>
                </a14:m>
                <a:endParaRPr lang="en-US" dirty="0"/>
              </a:p>
              <a:p>
                <a:pPr lvl="1"/>
                <a:r>
                  <a:rPr lang="en-US" dirty="0"/>
                  <a:t>✅ [2] </a:t>
                </a:r>
                <a:r>
                  <a:rPr lang="en-US" b="1" dirty="0"/>
                  <a:t>Centrifugal Correction</a:t>
                </a:r>
                <a:r>
                  <a:rPr lang="en-US" dirty="0"/>
                  <a:t>	|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𝑔</m:t>
                        </m:r>
                      </m:e>
                      <m:sub>
                        <m:r>
                          <m:rPr>
                            <m:nor/>
                          </m:rPr>
                          <a:rPr lang="el-GR" b="1" baseline="-25000" dirty="0" smtClean="0"/>
                          <m:t>ω</m:t>
                        </m:r>
                      </m:sub>
                    </m:sSub>
                    <m:r>
                      <m:rPr>
                        <m:nor/>
                      </m:rPr>
                      <a:rPr lang="el-GR" dirty="0" smtClean="0"/>
                      <m:t> = </m:t>
                    </m:r>
                    <m:r>
                      <m:rPr>
                        <m:nor/>
                      </m:rPr>
                      <a:rPr lang="en-US" b="1" i="0" dirty="0" smtClean="0"/>
                      <m:t>2 </m:t>
                    </m:r>
                    <m:r>
                      <m:rPr>
                        <m:nor/>
                      </m:rPr>
                      <a:rPr lang="el-GR" b="1" dirty="0" smtClean="0"/>
                      <m:t>ω</m:t>
                    </m:r>
                    <m:r>
                      <m:rPr>
                        <m:nor/>
                      </m:rPr>
                      <a:rPr lang="en-US" b="1" i="0" dirty="0" smtClean="0"/>
                      <m:t> </m:t>
                    </m:r>
                    <m:r>
                      <m:rPr>
                        <m:nor/>
                      </m:rPr>
                      <a:rPr lang="en-US" dirty="0" smtClean="0"/>
                      <m:t> </m:t>
                    </m:r>
                    <m:r>
                      <m:rPr>
                        <m:nor/>
                      </m:rPr>
                      <a:rPr lang="en-US" b="1" dirty="0" smtClean="0"/>
                      <m:t>r</m:t>
                    </m:r>
                    <m:r>
                      <m:rPr>
                        <m:nor/>
                      </m:rPr>
                      <a:rPr lang="en-US" dirty="0" smtClean="0"/>
                      <m:t> </m:t>
                    </m:r>
                    <m:r>
                      <m:rPr>
                        <m:nor/>
                      </m:rPr>
                      <a:rPr lang="en-US" b="0" i="0" dirty="0" smtClean="0"/>
                      <m:t>C</m:t>
                    </m:r>
                    <m:r>
                      <m:rPr>
                        <m:nor/>
                      </m:rPr>
                      <a:rPr lang="en-US" dirty="0" smtClean="0"/>
                      <m:t>os</m:t>
                    </m:r>
                    <m:r>
                      <m:rPr>
                        <m:nor/>
                      </m:rPr>
                      <a:rPr lang="en-US" dirty="0" smtClean="0"/>
                      <m:t> </m:t>
                    </m:r>
                    <m:r>
                      <m:rPr>
                        <m:nor/>
                      </m:rPr>
                      <a:rPr lang="el-GR" b="1" dirty="0" smtClean="0"/>
                      <m:t>φ</m:t>
                    </m:r>
                  </m:oMath>
                </a14:m>
                <a:r>
                  <a:rPr lang="en-US" dirty="0"/>
                  <a:t>, </a:t>
                </a:r>
                <a:r>
                  <a:rPr lang="el-GR" dirty="0"/>
                  <a:t>ω = 7.292115</a:t>
                </a:r>
                <a:r>
                  <a:rPr lang="en-US" dirty="0"/>
                  <a:t>e-5 rad/s </a:t>
                </a:r>
              </a:p>
              <a:p>
                <a:pPr lvl="1"/>
                <a:r>
                  <a:rPr lang="en-US" dirty="0"/>
                  <a:t>✅ [3] </a:t>
                </a:r>
                <a:r>
                  <a:rPr lang="en-US" b="1" dirty="0"/>
                  <a:t>Free-Air Correction </a:t>
                </a:r>
                <a:r>
                  <a:rPr lang="en-US" dirty="0"/>
                  <a:t>	| 	</a:t>
                </a:r>
                <a14:m>
                  <m:oMath xmlns:m="http://schemas.openxmlformats.org/officeDocument/2006/math">
                    <m:r>
                      <m:rPr>
                        <m:nor/>
                      </m:rPr>
                      <a:rPr lang="en-US" smtClean="0"/>
                      <m:t>Δg</m:t>
                    </m:r>
                    <m:r>
                      <m:rPr>
                        <m:nor/>
                      </m:rPr>
                      <a:rPr lang="en-US" baseline="-25000" smtClean="0"/>
                      <m:t>fa</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rPr>
                          <m:t>h</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0</m:t>
                            </m:r>
                          </m:sub>
                        </m:sSub>
                      </m:num>
                      <m:den>
                        <m:r>
                          <a:rPr lang="en-US" b="0" i="1" smtClean="0">
                            <a:latin typeface="Cambria Math" panose="02040503050406030204" pitchFamily="18" charset="0"/>
                          </a:rPr>
                          <m:t>𝑟</m:t>
                        </m:r>
                      </m:den>
                    </m:f>
                    <m:r>
                      <a:rPr lang="en-US" b="0" i="1" smtClean="0">
                        <a:latin typeface="Cambria Math" panose="02040503050406030204" pitchFamily="18" charset="0"/>
                      </a:rPr>
                      <m:t>,</m:t>
                    </m:r>
                  </m:oMath>
                </a14:m>
                <a:r>
                  <a:rPr lang="en-US" b="0" dirty="0"/>
                  <a:t> </a:t>
                </a:r>
                <a14:m>
                  <m:oMath xmlns:m="http://schemas.openxmlformats.org/officeDocument/2006/math">
                    <m:r>
                      <m:rPr>
                        <m:sty m:val="p"/>
                      </m:rPr>
                      <a:rPr lang="en-US" b="0" i="0" smtClean="0">
                        <a:latin typeface="Cambria Math" panose="02040503050406030204" pitchFamily="18" charset="0"/>
                      </a:rPr>
                      <m:t>earth</m:t>
                    </m:r>
                    <m:r>
                      <a:rPr lang="en-US" b="0" i="0" smtClean="0">
                        <a:latin typeface="Cambria Math" panose="02040503050406030204" pitchFamily="18" charset="0"/>
                      </a:rPr>
                      <m:t> </m:t>
                    </m:r>
                    <m:r>
                      <m:rPr>
                        <m:sty m:val="p"/>
                      </m:rPr>
                      <a:rPr lang="en-US" b="0" i="0" smtClean="0">
                        <a:latin typeface="Cambria Math" panose="02040503050406030204" pitchFamily="18" charset="0"/>
                      </a:rPr>
                      <m:t>radius</m:t>
                    </m:r>
                    <m:r>
                      <a:rPr lang="en-US" b="0" i="0" smtClean="0">
                        <a:latin typeface="Cambria Math" panose="02040503050406030204" pitchFamily="18" charset="0"/>
                      </a:rPr>
                      <m:t> </m:t>
                    </m:r>
                    <m:r>
                      <m:rPr>
                        <m:sty m:val="p"/>
                      </m:rPr>
                      <a:rPr lang="en-US" b="0" i="0" smtClean="0">
                        <a:latin typeface="Cambria Math" panose="02040503050406030204" pitchFamily="18" charset="0"/>
                      </a:rPr>
                      <m:t>r</m:t>
                    </m:r>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0" smtClean="0">
                        <a:latin typeface="Cambria Math" panose="02040503050406030204" pitchFamily="18" charset="0"/>
                      </a:rPr>
                      <m:t>9.8</m:t>
                    </m:r>
                    <m:r>
                      <a:rPr lang="en-US" b="0" i="0" smtClean="0">
                        <a:latin typeface="Cambria Math" panose="02040503050406030204" pitchFamily="18" charset="0"/>
                      </a:rPr>
                      <m:t>, </m:t>
                    </m:r>
                    <m:r>
                      <m:rPr>
                        <m:sty m:val="p"/>
                      </m:rPr>
                      <a:rPr lang="en-US" b="0" i="0" smtClean="0">
                        <a:latin typeface="Cambria Math" panose="02040503050406030204" pitchFamily="18" charset="0"/>
                      </a:rPr>
                      <m:t>h</m:t>
                    </m:r>
                    <m:r>
                      <a:rPr lang="en-US" b="0" i="0" smtClean="0">
                        <a:latin typeface="Cambria Math" panose="02040503050406030204" pitchFamily="18" charset="0"/>
                      </a:rPr>
                      <m:t>=</m:t>
                    </m:r>
                    <m:r>
                      <m:rPr>
                        <m:sty m:val="p"/>
                      </m:rPr>
                      <a:rPr lang="en-US" b="0" i="0" smtClean="0">
                        <a:latin typeface="Cambria Math" panose="02040503050406030204" pitchFamily="18" charset="0"/>
                      </a:rPr>
                      <m:t>height</m:t>
                    </m:r>
                    <m:r>
                      <a:rPr lang="en-US" b="0" i="0" smtClean="0">
                        <a:latin typeface="Cambria Math" panose="02040503050406030204" pitchFamily="18" charset="0"/>
                      </a:rPr>
                      <m:t> </m:t>
                    </m:r>
                    <m:r>
                      <m:rPr>
                        <m:sty m:val="p"/>
                      </m:rPr>
                      <a:rPr lang="en-US" b="0" i="0" smtClean="0">
                        <a:latin typeface="Cambria Math" panose="02040503050406030204" pitchFamily="18" charset="0"/>
                      </a:rPr>
                      <m:t>above</m:t>
                    </m:r>
                    <m:r>
                      <a:rPr lang="en-US" b="0" i="0" smtClean="0">
                        <a:latin typeface="Cambria Math" panose="02040503050406030204" pitchFamily="18" charset="0"/>
                      </a:rPr>
                      <m:t> </m:t>
                    </m:r>
                    <m:r>
                      <m:rPr>
                        <m:sty m:val="p"/>
                      </m:rPr>
                      <a:rPr lang="en-US" b="0" i="0" smtClean="0">
                        <a:latin typeface="Cambria Math" panose="02040503050406030204" pitchFamily="18" charset="0"/>
                      </a:rPr>
                      <m:t>ellipsoid</m:t>
                    </m:r>
                  </m:oMath>
                </a14:m>
                <a:endParaRPr lang="en-US" dirty="0"/>
              </a:p>
              <a:p>
                <a:endParaRPr lang="en-US" dirty="0"/>
              </a:p>
              <a:p>
                <a:r>
                  <a:rPr lang="en-US" sz="1800" b="1" dirty="0"/>
                  <a:t>|∇W| </a:t>
                </a:r>
                <a:r>
                  <a:rPr lang="en-US" sz="1800" dirty="0"/>
                  <a:t>does </a:t>
                </a:r>
                <a:r>
                  <a:rPr lang="en-US" sz="1800" b="1" dirty="0"/>
                  <a:t>not</a:t>
                </a:r>
                <a:r>
                  <a:rPr lang="en-US" sz="1800" dirty="0"/>
                  <a:t> contain topographic (geoid) corrections:</a:t>
                </a:r>
                <a:endParaRPr lang="en-US" dirty="0"/>
              </a:p>
              <a:p>
                <a:r>
                  <a:rPr lang="en-US" dirty="0"/>
                  <a:t>                [4] </a:t>
                </a:r>
                <a:r>
                  <a:rPr lang="en-US" b="1" dirty="0"/>
                  <a:t>The Bouguer Anomaly </a:t>
                </a:r>
                <a:r>
                  <a:rPr lang="en-US" dirty="0"/>
                  <a:t>	| 	Δg = Δg</a:t>
                </a:r>
                <a:r>
                  <a:rPr lang="en-US" baseline="-25000" dirty="0"/>
                  <a:t>fa</a:t>
                </a:r>
                <a:r>
                  <a:rPr lang="en-US" dirty="0"/>
                  <a:t> – 2𝜋GρH</a:t>
                </a:r>
              </a:p>
              <a:p>
                <a:r>
                  <a:rPr lang="en-US" dirty="0"/>
                  <a:t>a</a:t>
                </a:r>
                <a:r>
                  <a:rPr lang="en-US" sz="1800" dirty="0"/>
                  <a:t>nd</a:t>
                </a:r>
                <a:r>
                  <a:rPr lang="en-US" sz="1800" b="1" dirty="0"/>
                  <a:t> |∇W|</a:t>
                </a:r>
                <a:r>
                  <a:rPr lang="en-US" b="1" dirty="0"/>
                  <a:t> </a:t>
                </a:r>
                <a:r>
                  <a:rPr lang="en-US" dirty="0"/>
                  <a:t>does </a:t>
                </a:r>
                <a:r>
                  <a:rPr lang="en-US" b="1" dirty="0"/>
                  <a:t>not</a:t>
                </a:r>
                <a:r>
                  <a:rPr lang="en-US" dirty="0"/>
                  <a:t> contain correction for the deviation between the ellipsoid and geoid:</a:t>
                </a:r>
              </a:p>
              <a:p>
                <a:r>
                  <a:rPr lang="en-US" dirty="0"/>
                  <a:t>                [5] </a:t>
                </a:r>
                <a:r>
                  <a:rPr lang="en-US" b="1" dirty="0"/>
                  <a:t>Gravity Disturbance</a:t>
                </a:r>
                <a:r>
                  <a:rPr lang="en-US" dirty="0"/>
                  <a:t>	|	</a:t>
                </a:r>
              </a:p>
            </p:txBody>
          </p:sp>
        </mc:Choice>
        <mc:Fallback>
          <p:sp>
            <p:nvSpPr>
              <p:cNvPr id="5" name="TextBox 4">
                <a:extLst>
                  <a:ext uri="{FF2B5EF4-FFF2-40B4-BE49-F238E27FC236}">
                    <a16:creationId xmlns:a16="http://schemas.microsoft.com/office/drawing/2014/main" id="{9658E049-A0E0-7C38-FC61-5003B4AD46E7}"/>
                  </a:ext>
                </a:extLst>
              </p:cNvPr>
              <p:cNvSpPr txBox="1">
                <a:spLocks noRot="1" noChangeAspect="1" noMove="1" noResize="1" noEditPoints="1" noAdjustHandles="1" noChangeArrowheads="1" noChangeShapeType="1" noTextEdit="1"/>
              </p:cNvSpPr>
              <p:nvPr/>
            </p:nvSpPr>
            <p:spPr>
              <a:xfrm>
                <a:off x="0" y="220337"/>
                <a:ext cx="12006072" cy="2859181"/>
              </a:xfrm>
              <a:prstGeom prst="rect">
                <a:avLst/>
              </a:prstGeom>
              <a:blipFill>
                <a:blip r:embed="rId3"/>
                <a:stretch>
                  <a:fillRect l="-423" t="-885" b="-2655"/>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50CFD094-E1C4-3A56-BAA2-79E5AE855422}"/>
              </a:ext>
            </a:extLst>
          </p:cNvPr>
          <p:cNvSpPr txBox="1"/>
          <p:nvPr/>
        </p:nvSpPr>
        <p:spPr>
          <a:xfrm>
            <a:off x="301752" y="7353787"/>
            <a:ext cx="8421624" cy="3416320"/>
          </a:xfrm>
          <a:prstGeom prst="rect">
            <a:avLst/>
          </a:prstGeom>
          <a:solidFill>
            <a:schemeClr val="bg1"/>
          </a:solidFill>
        </p:spPr>
        <p:txBody>
          <a:bodyPr wrap="square" rtlCol="0">
            <a:spAutoFit/>
          </a:bodyPr>
          <a:lstStyle/>
          <a:p>
            <a:r>
              <a:rPr lang="en-US" b="0" i="0" u="none" strike="noStrike" dirty="0">
                <a:solidFill>
                  <a:srgbClr val="000000"/>
                </a:solidFill>
                <a:effectLst/>
                <a:latin typeface="Aptos" panose="020B0004020202020204" pitchFamily="34" charset="0"/>
              </a:rPr>
              <a:t>But a more accurate quantity is the "gravity disturbance", equation 26 because it removes the attraction of the earth as an ellipsoid evaluated at the true elevation of the measurement.  Our measurements are done on the geoid, so computing the gravity disturbance would involve take into account the height of the geoid along survey track. it might be interesting to make the correction and see how that might affect inferences of crustal thickness variation in our survey area.   A simple way to do that would be to use the Bouguer slab approximation, which would be pretty good in the situation where geoid height varies over a wavelength long compared to the depth of the crust.  A project narrative discussing the details and showing the relevant equations (including those leading </a:t>
            </a:r>
            <a:r>
              <a:rPr lang="en-US" b="0" i="0" u="none" strike="noStrike" dirty="0" err="1">
                <a:solidFill>
                  <a:srgbClr val="000000"/>
                </a:solidFill>
                <a:effectLst/>
                <a:latin typeface="Aptos" panose="020B0004020202020204" pitchFamily="34" charset="0"/>
              </a:rPr>
              <a:t>iup</a:t>
            </a:r>
            <a:r>
              <a:rPr lang="en-US" b="0" i="0" u="none" strike="noStrike" dirty="0">
                <a:solidFill>
                  <a:srgbClr val="000000"/>
                </a:solidFill>
                <a:effectLst/>
                <a:latin typeface="Aptos" panose="020B0004020202020204" pitchFamily="34" charset="0"/>
              </a:rPr>
              <a:t> to Eq 26 &amp; 27) would be valuable.</a:t>
            </a:r>
            <a:endParaRPr lang="en-US" dirty="0"/>
          </a:p>
          <a:p>
            <a:endParaRPr lang="en-US" dirty="0"/>
          </a:p>
          <a:p>
            <a:endParaRPr lang="en-US" dirty="0"/>
          </a:p>
        </p:txBody>
      </p:sp>
      <p:sp>
        <p:nvSpPr>
          <p:cNvPr id="14" name="Oval 13">
            <a:extLst>
              <a:ext uri="{FF2B5EF4-FFF2-40B4-BE49-F238E27FC236}">
                <a16:creationId xmlns:a16="http://schemas.microsoft.com/office/drawing/2014/main" id="{D16D9EAF-011A-F73D-F563-0137919DC910}"/>
              </a:ext>
            </a:extLst>
          </p:cNvPr>
          <p:cNvSpPr/>
          <p:nvPr/>
        </p:nvSpPr>
        <p:spPr>
          <a:xfrm>
            <a:off x="6117336" y="5558706"/>
            <a:ext cx="224028" cy="224028"/>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Arrow Connector 15">
            <a:extLst>
              <a:ext uri="{FF2B5EF4-FFF2-40B4-BE49-F238E27FC236}">
                <a16:creationId xmlns:a16="http://schemas.microsoft.com/office/drawing/2014/main" id="{88EA507A-AD60-67E3-2465-14B49FB4799B}"/>
              </a:ext>
            </a:extLst>
          </p:cNvPr>
          <p:cNvCxnSpPr>
            <a:cxnSpLocks/>
          </p:cNvCxnSpPr>
          <p:nvPr/>
        </p:nvCxnSpPr>
        <p:spPr>
          <a:xfrm flipV="1">
            <a:off x="4067986" y="5700206"/>
            <a:ext cx="1998251" cy="556199"/>
          </a:xfrm>
          <a:prstGeom prst="straightConnector1">
            <a:avLst/>
          </a:prstGeom>
          <a:ln w="50800">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D536EE37-FC4A-4E24-37BF-80E857B688F9}"/>
              </a:ext>
            </a:extLst>
          </p:cNvPr>
          <p:cNvCxnSpPr>
            <a:cxnSpLocks/>
          </p:cNvCxnSpPr>
          <p:nvPr/>
        </p:nvCxnSpPr>
        <p:spPr>
          <a:xfrm>
            <a:off x="3797430" y="5477256"/>
            <a:ext cx="2272851" cy="425897"/>
          </a:xfrm>
          <a:prstGeom prst="straightConnector1">
            <a:avLst/>
          </a:prstGeom>
          <a:ln w="50800">
            <a:tailEnd type="triangle"/>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49092785-1A32-EB2D-C2DE-61A796158CBC}"/>
              </a:ext>
            </a:extLst>
          </p:cNvPr>
          <p:cNvSpPr/>
          <p:nvPr/>
        </p:nvSpPr>
        <p:spPr>
          <a:xfrm>
            <a:off x="6126480" y="5791139"/>
            <a:ext cx="224028" cy="224028"/>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2F8CF648-0E0D-063A-8CF0-2AC7D3AE2E5C}"/>
              </a:ext>
            </a:extLst>
          </p:cNvPr>
          <p:cNvSpPr txBox="1"/>
          <p:nvPr/>
        </p:nvSpPr>
        <p:spPr>
          <a:xfrm>
            <a:off x="558983" y="5039768"/>
            <a:ext cx="3833678" cy="369332"/>
          </a:xfrm>
          <a:prstGeom prst="rect">
            <a:avLst/>
          </a:prstGeom>
          <a:noFill/>
        </p:spPr>
        <p:txBody>
          <a:bodyPr wrap="none" rtlCol="0">
            <a:spAutoFit/>
          </a:bodyPr>
          <a:lstStyle/>
          <a:p>
            <a:r>
              <a:rPr lang="en-US" dirty="0"/>
              <a:t>I have measurements at this radius…</a:t>
            </a:r>
          </a:p>
        </p:txBody>
      </p:sp>
      <p:sp>
        <p:nvSpPr>
          <p:cNvPr id="27" name="TextBox 26">
            <a:extLst>
              <a:ext uri="{FF2B5EF4-FFF2-40B4-BE49-F238E27FC236}">
                <a16:creationId xmlns:a16="http://schemas.microsoft.com/office/drawing/2014/main" id="{6C40D95F-5BC5-3C6F-9DBF-937B5A6CBC5B}"/>
              </a:ext>
            </a:extLst>
          </p:cNvPr>
          <p:cNvSpPr txBox="1"/>
          <p:nvPr/>
        </p:nvSpPr>
        <p:spPr>
          <a:xfrm>
            <a:off x="558983" y="5989625"/>
            <a:ext cx="3589444" cy="369332"/>
          </a:xfrm>
          <a:prstGeom prst="rect">
            <a:avLst/>
          </a:prstGeom>
          <a:noFill/>
        </p:spPr>
        <p:txBody>
          <a:bodyPr wrap="none" rtlCol="0">
            <a:spAutoFit/>
          </a:bodyPr>
          <a:lstStyle/>
          <a:p>
            <a:r>
              <a:rPr lang="en-US" dirty="0"/>
              <a:t>That are corrected for this radius…</a:t>
            </a:r>
          </a:p>
        </p:txBody>
      </p:sp>
      <p:sp>
        <p:nvSpPr>
          <p:cNvPr id="28" name="TextBox 27">
            <a:extLst>
              <a:ext uri="{FF2B5EF4-FFF2-40B4-BE49-F238E27FC236}">
                <a16:creationId xmlns:a16="http://schemas.microsoft.com/office/drawing/2014/main" id="{C8573D48-81DB-5BD5-C26D-352B31A1A471}"/>
              </a:ext>
            </a:extLst>
          </p:cNvPr>
          <p:cNvSpPr txBox="1"/>
          <p:nvPr/>
        </p:nvSpPr>
        <p:spPr>
          <a:xfrm>
            <a:off x="830961" y="3673924"/>
            <a:ext cx="3681603" cy="923330"/>
          </a:xfrm>
          <a:prstGeom prst="rect">
            <a:avLst/>
          </a:prstGeom>
          <a:noFill/>
        </p:spPr>
        <p:txBody>
          <a:bodyPr wrap="square" rtlCol="0">
            <a:spAutoFit/>
          </a:bodyPr>
          <a:lstStyle/>
          <a:p>
            <a:r>
              <a:rPr lang="en-US" i="1" dirty="0"/>
              <a:t>There may exist a non-zero gap between the ellipsoid and geoid even at sea-level.</a:t>
            </a:r>
          </a:p>
        </p:txBody>
      </p:sp>
      <p:sp>
        <p:nvSpPr>
          <p:cNvPr id="29" name="TextBox 28">
            <a:extLst>
              <a:ext uri="{FF2B5EF4-FFF2-40B4-BE49-F238E27FC236}">
                <a16:creationId xmlns:a16="http://schemas.microsoft.com/office/drawing/2014/main" id="{85E23155-FCB9-F15D-E655-9AB0E65F5A9A}"/>
              </a:ext>
            </a:extLst>
          </p:cNvPr>
          <p:cNvSpPr txBox="1"/>
          <p:nvPr/>
        </p:nvSpPr>
        <p:spPr>
          <a:xfrm>
            <a:off x="9144" y="6427113"/>
            <a:ext cx="12252219" cy="430887"/>
          </a:xfrm>
          <a:prstGeom prst="rect">
            <a:avLst/>
          </a:prstGeom>
          <a:noFill/>
        </p:spPr>
        <p:txBody>
          <a:bodyPr wrap="square">
            <a:spAutoFit/>
          </a:bodyPr>
          <a:lstStyle/>
          <a:p>
            <a:pPr algn="r"/>
            <a:r>
              <a:rPr lang="en-US" sz="1100" b="1" dirty="0">
                <a:effectLst/>
              </a:rPr>
              <a:t>Barthelmes, Franz</a:t>
            </a:r>
            <a:r>
              <a:rPr lang="en-US" sz="1100" dirty="0">
                <a:effectLst/>
              </a:rPr>
              <a:t>. “</a:t>
            </a:r>
            <a:r>
              <a:rPr lang="en-US" sz="1100" i="1" dirty="0">
                <a:effectLst/>
              </a:rPr>
              <a:t>Definition of Functionals of the Geopotential and Their Calculation from Spherical Harmonic Models: Theory and Formulas Used by the Calculation Service of the International Centre for Global Earth Models (ICGEM)</a:t>
            </a:r>
            <a:r>
              <a:rPr lang="en-US" sz="1100" dirty="0">
                <a:effectLst/>
              </a:rPr>
              <a:t>; Http://</a:t>
            </a:r>
            <a:r>
              <a:rPr lang="en-US" sz="1100" dirty="0" err="1">
                <a:effectLst/>
              </a:rPr>
              <a:t>Icgem.Gfz-Potsdam.de</a:t>
            </a:r>
            <a:r>
              <a:rPr lang="en-US" sz="1100" dirty="0">
                <a:effectLst/>
              </a:rPr>
              <a:t>/ICGEM/ ; Revised Edition.” </a:t>
            </a:r>
            <a:r>
              <a:rPr lang="en-US" sz="1100" i="1" dirty="0">
                <a:effectLst/>
              </a:rPr>
              <a:t>Scientific Technical Report; 09/02; ISSN 1610-0956</a:t>
            </a:r>
            <a:r>
              <a:rPr lang="en-US" sz="1100" dirty="0">
                <a:effectLst/>
              </a:rPr>
              <a:t>, 2013.</a:t>
            </a:r>
          </a:p>
        </p:txBody>
      </p:sp>
      <p:pic>
        <p:nvPicPr>
          <p:cNvPr id="34" name="Picture 33">
            <a:extLst>
              <a:ext uri="{FF2B5EF4-FFF2-40B4-BE49-F238E27FC236}">
                <a16:creationId xmlns:a16="http://schemas.microsoft.com/office/drawing/2014/main" id="{8B4FE03F-03D9-27F7-BB07-3FCA61D7D63F}"/>
              </a:ext>
            </a:extLst>
          </p:cNvPr>
          <p:cNvPicPr>
            <a:picLocks noChangeAspect="1"/>
          </p:cNvPicPr>
          <p:nvPr/>
        </p:nvPicPr>
        <p:blipFill>
          <a:blip r:embed="rId4"/>
          <a:stretch>
            <a:fillRect/>
          </a:stretch>
        </p:blipFill>
        <p:spPr>
          <a:xfrm>
            <a:off x="4540663" y="2734563"/>
            <a:ext cx="3431540" cy="322482"/>
          </a:xfrm>
          <a:prstGeom prst="rect">
            <a:avLst/>
          </a:prstGeom>
        </p:spPr>
      </p:pic>
    </p:spTree>
    <p:extLst>
      <p:ext uri="{BB962C8B-B14F-4D97-AF65-F5344CB8AC3E}">
        <p14:creationId xmlns:p14="http://schemas.microsoft.com/office/powerpoint/2010/main" val="249051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map of the earth&#10;&#10;AI-generated content may be incorrect.">
            <a:extLst>
              <a:ext uri="{FF2B5EF4-FFF2-40B4-BE49-F238E27FC236}">
                <a16:creationId xmlns:a16="http://schemas.microsoft.com/office/drawing/2014/main" id="{CE6E9290-4FFC-E9E0-73A6-EAF56F5E340B}"/>
              </a:ext>
            </a:extLst>
          </p:cNvPr>
          <p:cNvPicPr>
            <a:picLocks noChangeAspect="1"/>
          </p:cNvPicPr>
          <p:nvPr/>
        </p:nvPicPr>
        <p:blipFill>
          <a:blip r:embed="rId2"/>
          <a:stretch>
            <a:fillRect/>
          </a:stretch>
        </p:blipFill>
        <p:spPr>
          <a:xfrm>
            <a:off x="2017570" y="229153"/>
            <a:ext cx="8156859" cy="6168862"/>
          </a:xfrm>
          <a:prstGeom prst="rect">
            <a:avLst/>
          </a:prstGeom>
          <a:noFill/>
          <a:ln w="25400">
            <a:solidFill>
              <a:schemeClr val="tx1"/>
            </a:solidFill>
          </a:ln>
        </p:spPr>
      </p:pic>
      <p:sp>
        <p:nvSpPr>
          <p:cNvPr id="6" name="TextBox 5">
            <a:extLst>
              <a:ext uri="{FF2B5EF4-FFF2-40B4-BE49-F238E27FC236}">
                <a16:creationId xmlns:a16="http://schemas.microsoft.com/office/drawing/2014/main" id="{898910C4-C44F-8AB2-5A4D-3E165120E501}"/>
              </a:ext>
            </a:extLst>
          </p:cNvPr>
          <p:cNvSpPr txBox="1"/>
          <p:nvPr/>
        </p:nvSpPr>
        <p:spPr>
          <a:xfrm>
            <a:off x="3813048" y="6525584"/>
            <a:ext cx="8462081" cy="276999"/>
          </a:xfrm>
          <a:prstGeom prst="rect">
            <a:avLst/>
          </a:prstGeom>
          <a:noFill/>
        </p:spPr>
        <p:txBody>
          <a:bodyPr wrap="square" rtlCol="0">
            <a:spAutoFit/>
          </a:bodyPr>
          <a:lstStyle/>
          <a:p>
            <a:pPr algn="r"/>
            <a:r>
              <a:rPr lang="en-US" sz="1200" dirty="0">
                <a:effectLst/>
              </a:rPr>
              <a:t>Turcotte, Donald, and Gerald Schubert. </a:t>
            </a:r>
            <a:r>
              <a:rPr lang="en-US" sz="1200" i="1" dirty="0">
                <a:effectLst/>
              </a:rPr>
              <a:t>Geodynamics</a:t>
            </a:r>
            <a:r>
              <a:rPr lang="en-US" sz="1200" dirty="0">
                <a:effectLst/>
              </a:rPr>
              <a:t>. </a:t>
            </a:r>
            <a:r>
              <a:rPr lang="en-US" sz="1200" i="1" dirty="0">
                <a:effectLst/>
              </a:rPr>
              <a:t>Cambridge University Press</a:t>
            </a:r>
            <a:r>
              <a:rPr lang="en-US" sz="1200" dirty="0">
                <a:effectLst/>
              </a:rPr>
              <a:t>. Cambridge University Press, 1984. </a:t>
            </a:r>
          </a:p>
        </p:txBody>
      </p:sp>
      <p:sp>
        <p:nvSpPr>
          <p:cNvPr id="7" name="Rectangle 6">
            <a:extLst>
              <a:ext uri="{FF2B5EF4-FFF2-40B4-BE49-F238E27FC236}">
                <a16:creationId xmlns:a16="http://schemas.microsoft.com/office/drawing/2014/main" id="{72C4C286-08DD-703A-B06F-0C95BF4540D6}"/>
              </a:ext>
            </a:extLst>
          </p:cNvPr>
          <p:cNvSpPr/>
          <p:nvPr/>
        </p:nvSpPr>
        <p:spPr>
          <a:xfrm>
            <a:off x="0" y="0"/>
            <a:ext cx="12192000" cy="2203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3 | Anomalies</a:t>
            </a:r>
          </a:p>
        </p:txBody>
      </p:sp>
    </p:spTree>
    <p:extLst>
      <p:ext uri="{BB962C8B-B14F-4D97-AF65-F5344CB8AC3E}">
        <p14:creationId xmlns:p14="http://schemas.microsoft.com/office/powerpoint/2010/main" val="1195201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458D5-74E8-17D4-7AA8-B2AB7AEC54F3}"/>
            </a:ext>
          </a:extLst>
        </p:cNvPr>
        <p:cNvGrpSpPr/>
        <p:nvPr/>
      </p:nvGrpSpPr>
      <p:grpSpPr>
        <a:xfrm>
          <a:off x="0" y="0"/>
          <a:ext cx="0" cy="0"/>
          <a:chOff x="0" y="0"/>
          <a:chExt cx="0" cy="0"/>
        </a:xfrm>
      </p:grpSpPr>
      <p:pic>
        <p:nvPicPr>
          <p:cNvPr id="5" name="Picture 4" descr="A map of the earth&#10;&#10;AI-generated content may be incorrect.">
            <a:extLst>
              <a:ext uri="{FF2B5EF4-FFF2-40B4-BE49-F238E27FC236}">
                <a16:creationId xmlns:a16="http://schemas.microsoft.com/office/drawing/2014/main" id="{832DFCA5-34D4-25A9-34FF-C750053E2F99}"/>
              </a:ext>
            </a:extLst>
          </p:cNvPr>
          <p:cNvPicPr>
            <a:picLocks noChangeAspect="1"/>
          </p:cNvPicPr>
          <p:nvPr/>
        </p:nvPicPr>
        <p:blipFill>
          <a:blip r:embed="rId2"/>
          <a:stretch>
            <a:fillRect/>
          </a:stretch>
        </p:blipFill>
        <p:spPr>
          <a:xfrm>
            <a:off x="3924427" y="229153"/>
            <a:ext cx="8156859" cy="6168862"/>
          </a:xfrm>
          <a:prstGeom prst="rect">
            <a:avLst/>
          </a:prstGeom>
          <a:noFill/>
          <a:ln w="25400">
            <a:solidFill>
              <a:schemeClr val="tx1"/>
            </a:solidFill>
          </a:ln>
        </p:spPr>
      </p:pic>
      <p:sp>
        <p:nvSpPr>
          <p:cNvPr id="2" name="Rectangle 1">
            <a:extLst>
              <a:ext uri="{FF2B5EF4-FFF2-40B4-BE49-F238E27FC236}">
                <a16:creationId xmlns:a16="http://schemas.microsoft.com/office/drawing/2014/main" id="{A30EF54E-E72A-29AA-6C57-192B81C00D4E}"/>
              </a:ext>
            </a:extLst>
          </p:cNvPr>
          <p:cNvSpPr/>
          <p:nvPr/>
        </p:nvSpPr>
        <p:spPr>
          <a:xfrm>
            <a:off x="9567522" y="2939796"/>
            <a:ext cx="548640" cy="452628"/>
          </a:xfrm>
          <a:prstGeom prst="rect">
            <a:avLst/>
          </a:prstGeom>
          <a:noFill/>
          <a:ln w="254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D3F9BF3-A198-3476-6890-7DBA2676DCAD}"/>
              </a:ext>
            </a:extLst>
          </p:cNvPr>
          <p:cNvSpPr txBox="1"/>
          <p:nvPr/>
        </p:nvSpPr>
        <p:spPr>
          <a:xfrm>
            <a:off x="8334531" y="3806476"/>
            <a:ext cx="2996333" cy="369332"/>
          </a:xfrm>
          <a:prstGeom prst="rect">
            <a:avLst/>
          </a:prstGeom>
          <a:solidFill>
            <a:schemeClr val="bg1"/>
          </a:solidFill>
          <a:ln>
            <a:solidFill>
              <a:schemeClr val="tx1"/>
            </a:solidFill>
          </a:ln>
        </p:spPr>
        <p:txBody>
          <a:bodyPr wrap="none" rtlCol="0">
            <a:spAutoFit/>
          </a:bodyPr>
          <a:lstStyle/>
          <a:p>
            <a:r>
              <a:rPr lang="en-US" dirty="0"/>
              <a:t>~10m around the Galapagos</a:t>
            </a:r>
          </a:p>
        </p:txBody>
      </p:sp>
      <p:sp>
        <p:nvSpPr>
          <p:cNvPr id="4" name="TextBox 3">
            <a:extLst>
              <a:ext uri="{FF2B5EF4-FFF2-40B4-BE49-F238E27FC236}">
                <a16:creationId xmlns:a16="http://schemas.microsoft.com/office/drawing/2014/main" id="{CE632E91-CF0E-1060-D3CF-E845EEC97C3A}"/>
              </a:ext>
            </a:extLst>
          </p:cNvPr>
          <p:cNvSpPr txBox="1"/>
          <p:nvPr/>
        </p:nvSpPr>
        <p:spPr>
          <a:xfrm>
            <a:off x="262409" y="2831292"/>
            <a:ext cx="3568927" cy="1200329"/>
          </a:xfrm>
          <a:prstGeom prst="rect">
            <a:avLst/>
          </a:prstGeom>
          <a:noFill/>
        </p:spPr>
        <p:txBody>
          <a:bodyPr wrap="square" rtlCol="0">
            <a:spAutoFit/>
          </a:bodyPr>
          <a:lstStyle/>
          <a:p>
            <a:r>
              <a:rPr lang="en-US" i="1" dirty="0"/>
              <a:t>Fun fact: The Geoid height of Hawai’i is </a:t>
            </a:r>
            <a:r>
              <a:rPr lang="en-US" b="1" i="1" u="sng" dirty="0"/>
              <a:t>above</a:t>
            </a:r>
            <a:r>
              <a:rPr lang="en-US" i="1" dirty="0"/>
              <a:t> the WGS84 reference ellipsoid while the Galapagos is </a:t>
            </a:r>
            <a:r>
              <a:rPr lang="en-US" b="1" i="1" u="sng" dirty="0"/>
              <a:t>below</a:t>
            </a:r>
            <a:r>
              <a:rPr lang="en-US" i="1" dirty="0"/>
              <a:t> the ellipsoid.</a:t>
            </a:r>
          </a:p>
        </p:txBody>
      </p:sp>
      <p:sp>
        <p:nvSpPr>
          <p:cNvPr id="7" name="TextBox 6">
            <a:extLst>
              <a:ext uri="{FF2B5EF4-FFF2-40B4-BE49-F238E27FC236}">
                <a16:creationId xmlns:a16="http://schemas.microsoft.com/office/drawing/2014/main" id="{9DEFAA1D-8B23-8C25-8A17-6C47DB457C93}"/>
              </a:ext>
            </a:extLst>
          </p:cNvPr>
          <p:cNvSpPr txBox="1"/>
          <p:nvPr/>
        </p:nvSpPr>
        <p:spPr>
          <a:xfrm>
            <a:off x="3813048" y="6525584"/>
            <a:ext cx="8462081" cy="276999"/>
          </a:xfrm>
          <a:prstGeom prst="rect">
            <a:avLst/>
          </a:prstGeom>
          <a:noFill/>
        </p:spPr>
        <p:txBody>
          <a:bodyPr wrap="square" rtlCol="0">
            <a:spAutoFit/>
          </a:bodyPr>
          <a:lstStyle/>
          <a:p>
            <a:pPr algn="r"/>
            <a:r>
              <a:rPr lang="en-US" sz="1200" dirty="0">
                <a:effectLst/>
              </a:rPr>
              <a:t>Turcotte, Donald, and Gerald Schubert. </a:t>
            </a:r>
            <a:r>
              <a:rPr lang="en-US" sz="1200" i="1" dirty="0">
                <a:effectLst/>
              </a:rPr>
              <a:t>Geodynamics</a:t>
            </a:r>
            <a:r>
              <a:rPr lang="en-US" sz="1200" dirty="0">
                <a:effectLst/>
              </a:rPr>
              <a:t>. </a:t>
            </a:r>
            <a:r>
              <a:rPr lang="en-US" sz="1200" i="1" dirty="0">
                <a:effectLst/>
              </a:rPr>
              <a:t>Cambridge University Press</a:t>
            </a:r>
            <a:r>
              <a:rPr lang="en-US" sz="1200" dirty="0">
                <a:effectLst/>
              </a:rPr>
              <a:t>. Cambridge University Press, 1984. </a:t>
            </a:r>
          </a:p>
        </p:txBody>
      </p:sp>
      <p:sp>
        <p:nvSpPr>
          <p:cNvPr id="8" name="Rectangle 7">
            <a:extLst>
              <a:ext uri="{FF2B5EF4-FFF2-40B4-BE49-F238E27FC236}">
                <a16:creationId xmlns:a16="http://schemas.microsoft.com/office/drawing/2014/main" id="{D29D6F1D-E1D8-D309-8679-7AD68C5C4223}"/>
              </a:ext>
            </a:extLst>
          </p:cNvPr>
          <p:cNvSpPr/>
          <p:nvPr/>
        </p:nvSpPr>
        <p:spPr>
          <a:xfrm>
            <a:off x="0" y="0"/>
            <a:ext cx="12192000" cy="2203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4 | Anomalies</a:t>
            </a:r>
          </a:p>
        </p:txBody>
      </p:sp>
    </p:spTree>
    <p:extLst>
      <p:ext uri="{BB962C8B-B14F-4D97-AF65-F5344CB8AC3E}">
        <p14:creationId xmlns:p14="http://schemas.microsoft.com/office/powerpoint/2010/main" val="4012971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63003-305E-1819-5987-795914E1438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062A00A-A375-2E8B-6C4E-E5C20D53EA8E}"/>
              </a:ext>
            </a:extLst>
          </p:cNvPr>
          <p:cNvSpPr/>
          <p:nvPr/>
        </p:nvSpPr>
        <p:spPr>
          <a:xfrm>
            <a:off x="0" y="0"/>
            <a:ext cx="12192000" cy="2203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5 | Data: Ship Track</a:t>
            </a:r>
          </a:p>
        </p:txBody>
      </p:sp>
      <p:pic>
        <p:nvPicPr>
          <p:cNvPr id="6" name="Picture 5" descr="A map with colored lines&#10;&#10;AI-generated content may be incorrect.">
            <a:extLst>
              <a:ext uri="{FF2B5EF4-FFF2-40B4-BE49-F238E27FC236}">
                <a16:creationId xmlns:a16="http://schemas.microsoft.com/office/drawing/2014/main" id="{94C6B845-CABC-D27F-5746-7C497A6707A6}"/>
              </a:ext>
            </a:extLst>
          </p:cNvPr>
          <p:cNvPicPr>
            <a:picLocks noChangeAspect="1"/>
          </p:cNvPicPr>
          <p:nvPr/>
        </p:nvPicPr>
        <p:blipFill>
          <a:blip r:embed="rId2"/>
          <a:srcRect b="13559"/>
          <a:stretch/>
        </p:blipFill>
        <p:spPr>
          <a:xfrm>
            <a:off x="2221992" y="266256"/>
            <a:ext cx="8030286" cy="5694680"/>
          </a:xfrm>
          <a:prstGeom prst="rect">
            <a:avLst/>
          </a:prstGeom>
        </p:spPr>
      </p:pic>
      <p:pic>
        <p:nvPicPr>
          <p:cNvPr id="12" name="Picture 11" descr="A black background with a black square&#10;&#10;AI-generated content may be incorrect.">
            <a:extLst>
              <a:ext uri="{FF2B5EF4-FFF2-40B4-BE49-F238E27FC236}">
                <a16:creationId xmlns:a16="http://schemas.microsoft.com/office/drawing/2014/main" id="{991E712B-7C6E-1007-6C7F-718D2F00614A}"/>
              </a:ext>
            </a:extLst>
          </p:cNvPr>
          <p:cNvPicPr>
            <a:picLocks noChangeAspect="1"/>
          </p:cNvPicPr>
          <p:nvPr/>
        </p:nvPicPr>
        <p:blipFill>
          <a:blip r:embed="rId3"/>
          <a:stretch>
            <a:fillRect/>
          </a:stretch>
        </p:blipFill>
        <p:spPr>
          <a:xfrm>
            <a:off x="2221991" y="266255"/>
            <a:ext cx="8030286" cy="5694680"/>
          </a:xfrm>
          <a:prstGeom prst="rect">
            <a:avLst/>
          </a:prstGeom>
        </p:spPr>
      </p:pic>
    </p:spTree>
    <p:extLst>
      <p:ext uri="{BB962C8B-B14F-4D97-AF65-F5344CB8AC3E}">
        <p14:creationId xmlns:p14="http://schemas.microsoft.com/office/powerpoint/2010/main" val="2448328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8EE1C-E302-DD50-B934-154D7FCF04E3}"/>
            </a:ext>
          </a:extLst>
        </p:cNvPr>
        <p:cNvGrpSpPr/>
        <p:nvPr/>
      </p:nvGrpSpPr>
      <p:grpSpPr>
        <a:xfrm>
          <a:off x="0" y="0"/>
          <a:ext cx="0" cy="0"/>
          <a:chOff x="0" y="0"/>
          <a:chExt cx="0" cy="0"/>
        </a:xfrm>
      </p:grpSpPr>
      <p:pic>
        <p:nvPicPr>
          <p:cNvPr id="8" name="Picture 7" descr="A map of magnetic field&#10;&#10;AI-generated content may be incorrect.">
            <a:extLst>
              <a:ext uri="{FF2B5EF4-FFF2-40B4-BE49-F238E27FC236}">
                <a16:creationId xmlns:a16="http://schemas.microsoft.com/office/drawing/2014/main" id="{77CBBF86-E01E-A89D-4A86-C574C3C5D550}"/>
              </a:ext>
            </a:extLst>
          </p:cNvPr>
          <p:cNvPicPr>
            <a:picLocks noChangeAspect="1"/>
          </p:cNvPicPr>
          <p:nvPr/>
        </p:nvPicPr>
        <p:blipFill>
          <a:blip r:embed="rId2"/>
          <a:stretch>
            <a:fillRect/>
          </a:stretch>
        </p:blipFill>
        <p:spPr>
          <a:xfrm>
            <a:off x="2186372" y="304038"/>
            <a:ext cx="8101525" cy="6553962"/>
          </a:xfrm>
          <a:prstGeom prst="rect">
            <a:avLst/>
          </a:prstGeom>
        </p:spPr>
      </p:pic>
      <p:sp>
        <p:nvSpPr>
          <p:cNvPr id="4" name="Rectangle 3">
            <a:extLst>
              <a:ext uri="{FF2B5EF4-FFF2-40B4-BE49-F238E27FC236}">
                <a16:creationId xmlns:a16="http://schemas.microsoft.com/office/drawing/2014/main" id="{9F5F3DFD-DDC2-BC67-3B76-20B9FFF19EEE}"/>
              </a:ext>
            </a:extLst>
          </p:cNvPr>
          <p:cNvSpPr/>
          <p:nvPr/>
        </p:nvSpPr>
        <p:spPr>
          <a:xfrm>
            <a:off x="0" y="0"/>
            <a:ext cx="12192000" cy="2203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6 | Data: TFI</a:t>
            </a:r>
          </a:p>
        </p:txBody>
      </p:sp>
    </p:spTree>
    <p:extLst>
      <p:ext uri="{BB962C8B-B14F-4D97-AF65-F5344CB8AC3E}">
        <p14:creationId xmlns:p14="http://schemas.microsoft.com/office/powerpoint/2010/main" val="4044595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B581-271F-BD98-E0C8-22C2449CFFB6}"/>
            </a:ext>
          </a:extLst>
        </p:cNvPr>
        <p:cNvGrpSpPr/>
        <p:nvPr/>
      </p:nvGrpSpPr>
      <p:grpSpPr>
        <a:xfrm>
          <a:off x="0" y="0"/>
          <a:ext cx="0" cy="0"/>
          <a:chOff x="0" y="0"/>
          <a:chExt cx="0" cy="0"/>
        </a:xfrm>
      </p:grpSpPr>
      <p:pic>
        <p:nvPicPr>
          <p:cNvPr id="8" name="Picture 7" descr="A map of magnetic field&#10;&#10;AI-generated content may be incorrect.">
            <a:extLst>
              <a:ext uri="{FF2B5EF4-FFF2-40B4-BE49-F238E27FC236}">
                <a16:creationId xmlns:a16="http://schemas.microsoft.com/office/drawing/2014/main" id="{D526DF4A-C206-761A-601B-4C8127F42547}"/>
              </a:ext>
            </a:extLst>
          </p:cNvPr>
          <p:cNvPicPr>
            <a:picLocks noChangeAspect="1"/>
          </p:cNvPicPr>
          <p:nvPr/>
        </p:nvPicPr>
        <p:blipFill>
          <a:blip r:embed="rId2"/>
          <a:stretch>
            <a:fillRect/>
          </a:stretch>
        </p:blipFill>
        <p:spPr>
          <a:xfrm>
            <a:off x="2186372" y="304038"/>
            <a:ext cx="8101525" cy="6553962"/>
          </a:xfrm>
          <a:prstGeom prst="rect">
            <a:avLst/>
          </a:prstGeom>
        </p:spPr>
      </p:pic>
      <p:sp>
        <p:nvSpPr>
          <p:cNvPr id="4" name="Rectangle 3">
            <a:extLst>
              <a:ext uri="{FF2B5EF4-FFF2-40B4-BE49-F238E27FC236}">
                <a16:creationId xmlns:a16="http://schemas.microsoft.com/office/drawing/2014/main" id="{2C441558-A631-F9AF-88DF-7C5C9FB637EA}"/>
              </a:ext>
            </a:extLst>
          </p:cNvPr>
          <p:cNvSpPr/>
          <p:nvPr/>
        </p:nvSpPr>
        <p:spPr>
          <a:xfrm>
            <a:off x="0" y="0"/>
            <a:ext cx="12192000" cy="2203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7 | Data: Free-air</a:t>
            </a:r>
          </a:p>
        </p:txBody>
      </p:sp>
      <p:pic>
        <p:nvPicPr>
          <p:cNvPr id="6" name="Picture 5" descr="A map with colored lines&#10;&#10;AI-generated content may be incorrect.">
            <a:extLst>
              <a:ext uri="{FF2B5EF4-FFF2-40B4-BE49-F238E27FC236}">
                <a16:creationId xmlns:a16="http://schemas.microsoft.com/office/drawing/2014/main" id="{C1E5E66E-056C-D457-6657-7EAB99ACCFC8}"/>
              </a:ext>
            </a:extLst>
          </p:cNvPr>
          <p:cNvPicPr>
            <a:picLocks noChangeAspect="1"/>
          </p:cNvPicPr>
          <p:nvPr/>
        </p:nvPicPr>
        <p:blipFill>
          <a:blip r:embed="rId3"/>
          <a:srcRect b="-58"/>
          <a:stretch/>
        </p:blipFill>
        <p:spPr>
          <a:xfrm>
            <a:off x="2221992" y="266255"/>
            <a:ext cx="8030286" cy="6591745"/>
          </a:xfrm>
          <a:prstGeom prst="rect">
            <a:avLst/>
          </a:prstGeom>
        </p:spPr>
      </p:pic>
      <p:sp>
        <p:nvSpPr>
          <p:cNvPr id="2" name="TextBox 1">
            <a:extLst>
              <a:ext uri="{FF2B5EF4-FFF2-40B4-BE49-F238E27FC236}">
                <a16:creationId xmlns:a16="http://schemas.microsoft.com/office/drawing/2014/main" id="{CF524F07-5067-658E-F2AF-D6F6BF8BAF01}"/>
              </a:ext>
            </a:extLst>
          </p:cNvPr>
          <p:cNvSpPr txBox="1"/>
          <p:nvPr/>
        </p:nvSpPr>
        <p:spPr>
          <a:xfrm>
            <a:off x="10252278" y="3244334"/>
            <a:ext cx="2056503" cy="369332"/>
          </a:xfrm>
          <a:prstGeom prst="rect">
            <a:avLst/>
          </a:prstGeom>
          <a:noFill/>
        </p:spPr>
        <p:txBody>
          <a:bodyPr wrap="square" rtlCol="0">
            <a:spAutoFit/>
          </a:bodyPr>
          <a:lstStyle/>
          <a:p>
            <a:r>
              <a:rPr lang="en-US" dirty="0"/>
              <a:t>Arriving from Quito</a:t>
            </a:r>
          </a:p>
        </p:txBody>
      </p:sp>
      <p:cxnSp>
        <p:nvCxnSpPr>
          <p:cNvPr id="9" name="Straight Arrow Connector 8">
            <a:extLst>
              <a:ext uri="{FF2B5EF4-FFF2-40B4-BE49-F238E27FC236}">
                <a16:creationId xmlns:a16="http://schemas.microsoft.com/office/drawing/2014/main" id="{61A40C7C-7A2F-3777-F346-8B3CB2FEA67E}"/>
              </a:ext>
            </a:extLst>
          </p:cNvPr>
          <p:cNvCxnSpPr>
            <a:cxnSpLocks/>
          </p:cNvCxnSpPr>
          <p:nvPr/>
        </p:nvCxnSpPr>
        <p:spPr>
          <a:xfrm flipH="1" flipV="1">
            <a:off x="9848088" y="2610993"/>
            <a:ext cx="713232" cy="63334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37611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03CBC-49C0-C3D4-76E6-72551661AB3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5DDD594-3AC5-DBBB-35B2-0EE88C7661FA}"/>
              </a:ext>
            </a:extLst>
          </p:cNvPr>
          <p:cNvSpPr/>
          <p:nvPr/>
        </p:nvSpPr>
        <p:spPr>
          <a:xfrm>
            <a:off x="0" y="0"/>
            <a:ext cx="12192000" cy="2203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8 | Data: Free-air</a:t>
            </a:r>
          </a:p>
        </p:txBody>
      </p:sp>
      <p:pic>
        <p:nvPicPr>
          <p:cNvPr id="6" name="Picture 5" descr="A group of graphs showing different types of data&#10;&#10;AI-generated content may be incorrect.">
            <a:extLst>
              <a:ext uri="{FF2B5EF4-FFF2-40B4-BE49-F238E27FC236}">
                <a16:creationId xmlns:a16="http://schemas.microsoft.com/office/drawing/2014/main" id="{15041F3F-92EC-D0F8-5121-F96AF34DDF77}"/>
              </a:ext>
            </a:extLst>
          </p:cNvPr>
          <p:cNvPicPr>
            <a:picLocks noChangeAspect="1"/>
          </p:cNvPicPr>
          <p:nvPr/>
        </p:nvPicPr>
        <p:blipFill>
          <a:blip r:embed="rId2"/>
          <a:stretch>
            <a:fillRect/>
          </a:stretch>
        </p:blipFill>
        <p:spPr>
          <a:xfrm>
            <a:off x="194878" y="321658"/>
            <a:ext cx="11802243" cy="3897031"/>
          </a:xfrm>
          <a:prstGeom prst="rect">
            <a:avLst/>
          </a:prstGeom>
        </p:spPr>
      </p:pic>
    </p:spTree>
    <p:extLst>
      <p:ext uri="{BB962C8B-B14F-4D97-AF65-F5344CB8AC3E}">
        <p14:creationId xmlns:p14="http://schemas.microsoft.com/office/powerpoint/2010/main" val="3816070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63133-ED0D-B2B9-C690-529716702F67}"/>
            </a:ext>
          </a:extLst>
        </p:cNvPr>
        <p:cNvGrpSpPr/>
        <p:nvPr/>
      </p:nvGrpSpPr>
      <p:grpSpPr>
        <a:xfrm>
          <a:off x="0" y="0"/>
          <a:ext cx="0" cy="0"/>
          <a:chOff x="0" y="0"/>
          <a:chExt cx="0" cy="0"/>
        </a:xfrm>
      </p:grpSpPr>
      <p:pic>
        <p:nvPicPr>
          <p:cNvPr id="5" name="Picture 4" descr="A group of graphs showing different types of data&#10;&#10;AI-generated content may be incorrect.">
            <a:extLst>
              <a:ext uri="{FF2B5EF4-FFF2-40B4-BE49-F238E27FC236}">
                <a16:creationId xmlns:a16="http://schemas.microsoft.com/office/drawing/2014/main" id="{F1184C4C-126C-ECFB-32E6-9135CDA9F8E1}"/>
              </a:ext>
            </a:extLst>
          </p:cNvPr>
          <p:cNvPicPr>
            <a:picLocks noChangeAspect="1"/>
          </p:cNvPicPr>
          <p:nvPr/>
        </p:nvPicPr>
        <p:blipFill>
          <a:blip r:embed="rId2"/>
          <a:stretch>
            <a:fillRect/>
          </a:stretch>
        </p:blipFill>
        <p:spPr>
          <a:xfrm>
            <a:off x="194878" y="321658"/>
            <a:ext cx="11802243" cy="3897031"/>
          </a:xfrm>
          <a:prstGeom prst="rect">
            <a:avLst/>
          </a:prstGeom>
        </p:spPr>
      </p:pic>
      <p:sp>
        <p:nvSpPr>
          <p:cNvPr id="4" name="Rectangle 3">
            <a:extLst>
              <a:ext uri="{FF2B5EF4-FFF2-40B4-BE49-F238E27FC236}">
                <a16:creationId xmlns:a16="http://schemas.microsoft.com/office/drawing/2014/main" id="{1D624B63-51C1-C2CA-86F3-DF3992F810F8}"/>
              </a:ext>
            </a:extLst>
          </p:cNvPr>
          <p:cNvSpPr/>
          <p:nvPr/>
        </p:nvSpPr>
        <p:spPr>
          <a:xfrm>
            <a:off x="0" y="0"/>
            <a:ext cx="12192000" cy="2203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9 | Data: Free-air</a:t>
            </a:r>
          </a:p>
        </p:txBody>
      </p:sp>
      <p:sp>
        <p:nvSpPr>
          <p:cNvPr id="2" name="TextBox 1">
            <a:extLst>
              <a:ext uri="{FF2B5EF4-FFF2-40B4-BE49-F238E27FC236}">
                <a16:creationId xmlns:a16="http://schemas.microsoft.com/office/drawing/2014/main" id="{2573161A-F962-C8A2-067A-B324382631BF}"/>
              </a:ext>
            </a:extLst>
          </p:cNvPr>
          <p:cNvSpPr txBox="1"/>
          <p:nvPr/>
        </p:nvSpPr>
        <p:spPr>
          <a:xfrm>
            <a:off x="2378" y="4244595"/>
            <a:ext cx="11288411" cy="369332"/>
          </a:xfrm>
          <a:prstGeom prst="rect">
            <a:avLst/>
          </a:prstGeom>
          <a:noFill/>
        </p:spPr>
        <p:txBody>
          <a:bodyPr wrap="none" rtlCol="0">
            <a:spAutoFit/>
          </a:bodyPr>
          <a:lstStyle/>
          <a:p>
            <a:r>
              <a:rPr lang="en-US" b="1" u="sng" dirty="0"/>
              <a:t>Proposed plan:</a:t>
            </a:r>
            <a:r>
              <a:rPr lang="en-US" b="1" dirty="0"/>
              <a:t> </a:t>
            </a:r>
            <a:r>
              <a:rPr lang="en-US" sz="1800" dirty="0"/>
              <a:t>I want to see the effect of correcting for the height of this geoid along the Galapagos survey data.</a:t>
            </a:r>
          </a:p>
        </p:txBody>
      </p:sp>
      <p:sp>
        <p:nvSpPr>
          <p:cNvPr id="6" name="TextBox 5">
            <a:extLst>
              <a:ext uri="{FF2B5EF4-FFF2-40B4-BE49-F238E27FC236}">
                <a16:creationId xmlns:a16="http://schemas.microsoft.com/office/drawing/2014/main" id="{FBC51A78-0984-BC5C-B3A6-BD6175232F08}"/>
              </a:ext>
            </a:extLst>
          </p:cNvPr>
          <p:cNvSpPr txBox="1"/>
          <p:nvPr/>
        </p:nvSpPr>
        <p:spPr>
          <a:xfrm>
            <a:off x="988478" y="4960964"/>
            <a:ext cx="9751709" cy="338554"/>
          </a:xfrm>
          <a:prstGeom prst="rect">
            <a:avLst/>
          </a:prstGeom>
          <a:noFill/>
        </p:spPr>
        <p:txBody>
          <a:bodyPr wrap="none" rtlCol="0">
            <a:spAutoFit/>
          </a:bodyPr>
          <a:lstStyle/>
          <a:p>
            <a:r>
              <a:rPr lang="en-US" sz="1600" dirty="0"/>
              <a:t>1. Adapt the gravity disturbance vector equation to a measured (scalar) gravity data after a free-air correction. </a:t>
            </a:r>
          </a:p>
        </p:txBody>
      </p:sp>
      <p:pic>
        <p:nvPicPr>
          <p:cNvPr id="8" name="Picture 7">
            <a:extLst>
              <a:ext uri="{FF2B5EF4-FFF2-40B4-BE49-F238E27FC236}">
                <a16:creationId xmlns:a16="http://schemas.microsoft.com/office/drawing/2014/main" id="{4EB84BF2-6AE8-2A6E-B8CF-B9FA926F6C21}"/>
              </a:ext>
            </a:extLst>
          </p:cNvPr>
          <p:cNvPicPr>
            <a:picLocks noChangeAspect="1"/>
          </p:cNvPicPr>
          <p:nvPr/>
        </p:nvPicPr>
        <p:blipFill>
          <a:blip r:embed="rId3"/>
          <a:stretch>
            <a:fillRect/>
          </a:stretch>
        </p:blipFill>
        <p:spPr>
          <a:xfrm>
            <a:off x="1326001" y="6239952"/>
            <a:ext cx="2634280" cy="268120"/>
          </a:xfrm>
          <a:prstGeom prst="rect">
            <a:avLst/>
          </a:prstGeom>
        </p:spPr>
      </p:pic>
      <p:pic>
        <p:nvPicPr>
          <p:cNvPr id="10" name="Picture 9">
            <a:extLst>
              <a:ext uri="{FF2B5EF4-FFF2-40B4-BE49-F238E27FC236}">
                <a16:creationId xmlns:a16="http://schemas.microsoft.com/office/drawing/2014/main" id="{B879D42D-17BB-2F4D-9AB1-102E33862764}"/>
              </a:ext>
            </a:extLst>
          </p:cNvPr>
          <p:cNvPicPr>
            <a:picLocks noChangeAspect="1"/>
          </p:cNvPicPr>
          <p:nvPr/>
        </p:nvPicPr>
        <p:blipFill>
          <a:blip r:embed="rId4"/>
          <a:stretch>
            <a:fillRect/>
          </a:stretch>
        </p:blipFill>
        <p:spPr>
          <a:xfrm>
            <a:off x="1326001" y="5311679"/>
            <a:ext cx="2805218" cy="266595"/>
          </a:xfrm>
          <a:prstGeom prst="rect">
            <a:avLst/>
          </a:prstGeom>
        </p:spPr>
      </p:pic>
      <p:pic>
        <p:nvPicPr>
          <p:cNvPr id="12" name="Picture 11">
            <a:extLst>
              <a:ext uri="{FF2B5EF4-FFF2-40B4-BE49-F238E27FC236}">
                <a16:creationId xmlns:a16="http://schemas.microsoft.com/office/drawing/2014/main" id="{CEEED01B-7683-380A-2D65-6017349CA0E6}"/>
              </a:ext>
            </a:extLst>
          </p:cNvPr>
          <p:cNvPicPr>
            <a:picLocks noChangeAspect="1"/>
          </p:cNvPicPr>
          <p:nvPr/>
        </p:nvPicPr>
        <p:blipFill>
          <a:blip r:embed="rId5"/>
          <a:stretch>
            <a:fillRect/>
          </a:stretch>
        </p:blipFill>
        <p:spPr>
          <a:xfrm>
            <a:off x="1326001" y="5621048"/>
            <a:ext cx="3447485" cy="266595"/>
          </a:xfrm>
          <a:prstGeom prst="rect">
            <a:avLst/>
          </a:prstGeom>
        </p:spPr>
      </p:pic>
      <p:sp>
        <p:nvSpPr>
          <p:cNvPr id="13" name="TextBox 12">
            <a:extLst>
              <a:ext uri="{FF2B5EF4-FFF2-40B4-BE49-F238E27FC236}">
                <a16:creationId xmlns:a16="http://schemas.microsoft.com/office/drawing/2014/main" id="{9999C63D-DC4D-7418-9E29-F3BC2393DC9B}"/>
              </a:ext>
            </a:extLst>
          </p:cNvPr>
          <p:cNvSpPr txBox="1"/>
          <p:nvPr/>
        </p:nvSpPr>
        <p:spPr>
          <a:xfrm>
            <a:off x="996257" y="5863414"/>
            <a:ext cx="9494394" cy="338554"/>
          </a:xfrm>
          <a:prstGeom prst="rect">
            <a:avLst/>
          </a:prstGeom>
          <a:noFill/>
        </p:spPr>
        <p:txBody>
          <a:bodyPr wrap="none" rtlCol="0">
            <a:spAutoFit/>
          </a:bodyPr>
          <a:lstStyle/>
          <a:p>
            <a:r>
              <a:rPr lang="en-US" sz="1600" dirty="0"/>
              <a:t>2. Then apply a basic bouguer slab approximation at each measurement to see its effect on the anomaly. </a:t>
            </a:r>
          </a:p>
        </p:txBody>
      </p:sp>
      <p:sp>
        <p:nvSpPr>
          <p:cNvPr id="14" name="TextBox 13">
            <a:extLst>
              <a:ext uri="{FF2B5EF4-FFF2-40B4-BE49-F238E27FC236}">
                <a16:creationId xmlns:a16="http://schemas.microsoft.com/office/drawing/2014/main" id="{C709D579-8893-0158-C76A-EB866A9750BE}"/>
              </a:ext>
            </a:extLst>
          </p:cNvPr>
          <p:cNvSpPr txBox="1"/>
          <p:nvPr/>
        </p:nvSpPr>
        <p:spPr>
          <a:xfrm>
            <a:off x="194878" y="4596903"/>
            <a:ext cx="2781018" cy="338554"/>
          </a:xfrm>
          <a:prstGeom prst="rect">
            <a:avLst/>
          </a:prstGeom>
          <a:noFill/>
        </p:spPr>
        <p:txBody>
          <a:bodyPr wrap="none" rtlCol="0">
            <a:spAutoFit/>
          </a:bodyPr>
          <a:lstStyle/>
          <a:p>
            <a:r>
              <a:rPr lang="en-US" sz="1600" dirty="0"/>
              <a:t>This can be accomplished by,</a:t>
            </a:r>
          </a:p>
        </p:txBody>
      </p:sp>
      <p:grpSp>
        <p:nvGrpSpPr>
          <p:cNvPr id="21" name="Group 20">
            <a:extLst>
              <a:ext uri="{FF2B5EF4-FFF2-40B4-BE49-F238E27FC236}">
                <a16:creationId xmlns:a16="http://schemas.microsoft.com/office/drawing/2014/main" id="{7427659B-9A36-A7B6-67A9-69CAD7244066}"/>
              </a:ext>
            </a:extLst>
          </p:cNvPr>
          <p:cNvGrpSpPr/>
          <p:nvPr/>
        </p:nvGrpSpPr>
        <p:grpSpPr>
          <a:xfrm>
            <a:off x="3988633" y="6196342"/>
            <a:ext cx="1252757" cy="340000"/>
            <a:chOff x="4054549" y="2347698"/>
            <a:chExt cx="1252757" cy="340000"/>
          </a:xfrm>
        </p:grpSpPr>
        <p:pic>
          <p:nvPicPr>
            <p:cNvPr id="16" name="Picture 15">
              <a:extLst>
                <a:ext uri="{FF2B5EF4-FFF2-40B4-BE49-F238E27FC236}">
                  <a16:creationId xmlns:a16="http://schemas.microsoft.com/office/drawing/2014/main" id="{FECEA4AF-1B33-806F-384E-A4F8C6E974EB}"/>
                </a:ext>
              </a:extLst>
            </p:cNvPr>
            <p:cNvPicPr>
              <a:picLocks noChangeAspect="1"/>
            </p:cNvPicPr>
            <p:nvPr/>
          </p:nvPicPr>
          <p:blipFill>
            <a:blip r:embed="rId6"/>
            <a:stretch>
              <a:fillRect/>
            </a:stretch>
          </p:blipFill>
          <p:spPr>
            <a:xfrm>
              <a:off x="4225487" y="2347698"/>
              <a:ext cx="1081819" cy="340000"/>
            </a:xfrm>
            <a:prstGeom prst="rect">
              <a:avLst/>
            </a:prstGeom>
          </p:spPr>
        </p:pic>
        <p:cxnSp>
          <p:nvCxnSpPr>
            <p:cNvPr id="19" name="Straight Connector 18">
              <a:extLst>
                <a:ext uri="{FF2B5EF4-FFF2-40B4-BE49-F238E27FC236}">
                  <a16:creationId xmlns:a16="http://schemas.microsoft.com/office/drawing/2014/main" id="{BCA29C7A-CD3A-E098-9C76-3A6608EB7C1B}"/>
                </a:ext>
              </a:extLst>
            </p:cNvPr>
            <p:cNvCxnSpPr>
              <a:cxnSpLocks/>
            </p:cNvCxnSpPr>
            <p:nvPr/>
          </p:nvCxnSpPr>
          <p:spPr>
            <a:xfrm>
              <a:off x="4054549" y="2525368"/>
              <a:ext cx="10632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532530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AD94A-FC20-E35E-ECA1-B4AF5A0E8BE9}"/>
            </a:ext>
          </a:extLst>
        </p:cNvPr>
        <p:cNvGrpSpPr/>
        <p:nvPr/>
      </p:nvGrpSpPr>
      <p:grpSpPr>
        <a:xfrm>
          <a:off x="0" y="0"/>
          <a:ext cx="0" cy="0"/>
          <a:chOff x="0" y="0"/>
          <a:chExt cx="0" cy="0"/>
        </a:xfrm>
      </p:grpSpPr>
      <p:pic>
        <p:nvPicPr>
          <p:cNvPr id="5" name="Picture 4" descr="A group of graphs showing different types of data&#10;&#10;AI-generated content may be incorrect.">
            <a:extLst>
              <a:ext uri="{FF2B5EF4-FFF2-40B4-BE49-F238E27FC236}">
                <a16:creationId xmlns:a16="http://schemas.microsoft.com/office/drawing/2014/main" id="{673A5836-2D57-F994-736C-9B0147F0634D}"/>
              </a:ext>
            </a:extLst>
          </p:cNvPr>
          <p:cNvPicPr>
            <a:picLocks noChangeAspect="1"/>
          </p:cNvPicPr>
          <p:nvPr/>
        </p:nvPicPr>
        <p:blipFill>
          <a:blip r:embed="rId2"/>
          <a:stretch>
            <a:fillRect/>
          </a:stretch>
        </p:blipFill>
        <p:spPr>
          <a:xfrm>
            <a:off x="194878" y="321658"/>
            <a:ext cx="11802243" cy="3897031"/>
          </a:xfrm>
          <a:prstGeom prst="rect">
            <a:avLst/>
          </a:prstGeom>
        </p:spPr>
      </p:pic>
      <p:sp>
        <p:nvSpPr>
          <p:cNvPr id="4" name="Rectangle 3">
            <a:extLst>
              <a:ext uri="{FF2B5EF4-FFF2-40B4-BE49-F238E27FC236}">
                <a16:creationId xmlns:a16="http://schemas.microsoft.com/office/drawing/2014/main" id="{71C1EA05-EC5E-776A-38CE-17B1618DE07A}"/>
              </a:ext>
            </a:extLst>
          </p:cNvPr>
          <p:cNvSpPr/>
          <p:nvPr/>
        </p:nvSpPr>
        <p:spPr>
          <a:xfrm>
            <a:off x="0" y="0"/>
            <a:ext cx="12192000" cy="2203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9 | Data: Free-air</a:t>
            </a:r>
          </a:p>
        </p:txBody>
      </p:sp>
      <p:sp>
        <p:nvSpPr>
          <p:cNvPr id="2" name="TextBox 1">
            <a:extLst>
              <a:ext uri="{FF2B5EF4-FFF2-40B4-BE49-F238E27FC236}">
                <a16:creationId xmlns:a16="http://schemas.microsoft.com/office/drawing/2014/main" id="{A742B281-6EF6-765C-5C21-6ECA0EBD6D58}"/>
              </a:ext>
            </a:extLst>
          </p:cNvPr>
          <p:cNvSpPr txBox="1"/>
          <p:nvPr/>
        </p:nvSpPr>
        <p:spPr>
          <a:xfrm>
            <a:off x="2378" y="4244595"/>
            <a:ext cx="11288411" cy="369332"/>
          </a:xfrm>
          <a:prstGeom prst="rect">
            <a:avLst/>
          </a:prstGeom>
          <a:noFill/>
        </p:spPr>
        <p:txBody>
          <a:bodyPr wrap="none" rtlCol="0">
            <a:spAutoFit/>
          </a:bodyPr>
          <a:lstStyle/>
          <a:p>
            <a:r>
              <a:rPr lang="en-US" b="1" u="sng" dirty="0"/>
              <a:t>Proposed plan:</a:t>
            </a:r>
            <a:r>
              <a:rPr lang="en-US" b="1" dirty="0"/>
              <a:t> </a:t>
            </a:r>
            <a:r>
              <a:rPr lang="en-US" sz="1800" dirty="0"/>
              <a:t>I want to see the effect of correcting for the height of this geoid along the Galapagos survey data.</a:t>
            </a:r>
          </a:p>
        </p:txBody>
      </p:sp>
      <p:grpSp>
        <p:nvGrpSpPr>
          <p:cNvPr id="21" name="Group 20">
            <a:extLst>
              <a:ext uri="{FF2B5EF4-FFF2-40B4-BE49-F238E27FC236}">
                <a16:creationId xmlns:a16="http://schemas.microsoft.com/office/drawing/2014/main" id="{2C71BC5C-CFAD-8715-4AF8-E3743FECF917}"/>
              </a:ext>
            </a:extLst>
          </p:cNvPr>
          <p:cNvGrpSpPr/>
          <p:nvPr/>
        </p:nvGrpSpPr>
        <p:grpSpPr>
          <a:xfrm>
            <a:off x="3988633" y="4919593"/>
            <a:ext cx="1252757" cy="340000"/>
            <a:chOff x="4054549" y="2347698"/>
            <a:chExt cx="1252757" cy="340000"/>
          </a:xfrm>
        </p:grpSpPr>
        <p:pic>
          <p:nvPicPr>
            <p:cNvPr id="16" name="Picture 15">
              <a:extLst>
                <a:ext uri="{FF2B5EF4-FFF2-40B4-BE49-F238E27FC236}">
                  <a16:creationId xmlns:a16="http://schemas.microsoft.com/office/drawing/2014/main" id="{26D27C2A-F873-E1B9-65DC-C9108E68E274}"/>
                </a:ext>
              </a:extLst>
            </p:cNvPr>
            <p:cNvPicPr>
              <a:picLocks noChangeAspect="1"/>
            </p:cNvPicPr>
            <p:nvPr/>
          </p:nvPicPr>
          <p:blipFill>
            <a:blip r:embed="rId3"/>
            <a:stretch>
              <a:fillRect/>
            </a:stretch>
          </p:blipFill>
          <p:spPr>
            <a:xfrm>
              <a:off x="4225487" y="2347698"/>
              <a:ext cx="1081819" cy="340000"/>
            </a:xfrm>
            <a:prstGeom prst="rect">
              <a:avLst/>
            </a:prstGeom>
          </p:spPr>
        </p:pic>
        <p:cxnSp>
          <p:nvCxnSpPr>
            <p:cNvPr id="19" name="Straight Connector 18">
              <a:extLst>
                <a:ext uri="{FF2B5EF4-FFF2-40B4-BE49-F238E27FC236}">
                  <a16:creationId xmlns:a16="http://schemas.microsoft.com/office/drawing/2014/main" id="{67D76A15-6690-3F5F-5721-6D2B486A9C38}"/>
                </a:ext>
              </a:extLst>
            </p:cNvPr>
            <p:cNvCxnSpPr>
              <a:cxnSpLocks/>
            </p:cNvCxnSpPr>
            <p:nvPr/>
          </p:nvCxnSpPr>
          <p:spPr>
            <a:xfrm>
              <a:off x="4054549" y="2525368"/>
              <a:ext cx="10632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7" name="Picture 6" descr="A screenshot of a computer screen&#10;&#10;AI-generated content may be incorrect.">
            <a:extLst>
              <a:ext uri="{FF2B5EF4-FFF2-40B4-BE49-F238E27FC236}">
                <a16:creationId xmlns:a16="http://schemas.microsoft.com/office/drawing/2014/main" id="{8B0CBE7D-1FFD-0BB2-9309-F10583BB0BA6}"/>
              </a:ext>
            </a:extLst>
          </p:cNvPr>
          <p:cNvPicPr>
            <a:picLocks noChangeAspect="1"/>
          </p:cNvPicPr>
          <p:nvPr/>
        </p:nvPicPr>
        <p:blipFill>
          <a:blip r:embed="rId4"/>
          <a:stretch>
            <a:fillRect/>
          </a:stretch>
        </p:blipFill>
        <p:spPr>
          <a:xfrm>
            <a:off x="2724346" y="4590505"/>
            <a:ext cx="6033155" cy="2267494"/>
          </a:xfrm>
          <a:prstGeom prst="rect">
            <a:avLst/>
          </a:prstGeom>
        </p:spPr>
      </p:pic>
    </p:spTree>
    <p:extLst>
      <p:ext uri="{BB962C8B-B14F-4D97-AF65-F5344CB8AC3E}">
        <p14:creationId xmlns:p14="http://schemas.microsoft.com/office/powerpoint/2010/main" val="1962999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1201</TotalTime>
  <Words>780</Words>
  <Application>Microsoft Macintosh PowerPoint</Application>
  <PresentationFormat>Widescreen</PresentationFormat>
  <Paragraphs>50</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Charles Hoots</dc:creator>
  <cp:lastModifiedBy>Charles Hoots</cp:lastModifiedBy>
  <cp:revision>13</cp:revision>
  <dcterms:created xsi:type="dcterms:W3CDTF">2025-03-25T03:23:06Z</dcterms:created>
  <dcterms:modified xsi:type="dcterms:W3CDTF">2025-03-25T23:24:37Z</dcterms:modified>
</cp:coreProperties>
</file>